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handoutMasterIdLst>
    <p:handoutMasterId r:id="rId24"/>
  </p:handoutMasterIdLst>
  <p:sldIdLst>
    <p:sldId id="259" r:id="rId2"/>
    <p:sldId id="257" r:id="rId3"/>
    <p:sldId id="260" r:id="rId4"/>
    <p:sldId id="261" r:id="rId5"/>
    <p:sldId id="281" r:id="rId6"/>
    <p:sldId id="282" r:id="rId7"/>
    <p:sldId id="283" r:id="rId8"/>
    <p:sldId id="280" r:id="rId9"/>
    <p:sldId id="269" r:id="rId10"/>
    <p:sldId id="258" r:id="rId11"/>
    <p:sldId id="270" r:id="rId12"/>
    <p:sldId id="271" r:id="rId13"/>
    <p:sldId id="272" r:id="rId14"/>
    <p:sldId id="273" r:id="rId15"/>
    <p:sldId id="274" r:id="rId16"/>
    <p:sldId id="275" r:id="rId17"/>
    <p:sldId id="276" r:id="rId18"/>
    <p:sldId id="277" r:id="rId19"/>
    <p:sldId id="278" r:id="rId20"/>
    <p:sldId id="279" r:id="rId21"/>
    <p:sldId id="26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varScale="1">
        <p:scale>
          <a:sx n="82" d="100"/>
          <a:sy n="82" d="100"/>
        </p:scale>
        <p:origin x="67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6/29/2026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Date Placeholder 3">
            <a:extLst>
              <a:ext uri="{FF2B5EF4-FFF2-40B4-BE49-F238E27FC236}">
                <a16:creationId xmlns:a16="http://schemas.microsoft.com/office/drawing/2014/main" id="{26152509-8D0C-4712-AA81-AF54972C78DB}"/>
              </a:ext>
            </a:extLst>
          </p:cNvPr>
          <p:cNvSpPr>
            <a:spLocks noGrp="1"/>
          </p:cNvSpPr>
          <p:nvPr>
            <p:ph type="dt" sz="half" idx="10"/>
          </p:nvPr>
        </p:nvSpPr>
        <p:spPr>
          <a:xfrm>
            <a:off x="838200" y="6486006"/>
            <a:ext cx="27432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58E92B09-5AF4-4E86-A8BE-E866F0E2C017}" type="datetime1">
              <a:rPr lang="en-US" smtClean="0"/>
              <a:t>6/29/2026</a:t>
            </a:fld>
            <a:endParaRPr lang="en-US"/>
          </a:p>
        </p:txBody>
      </p:sp>
      <p:sp>
        <p:nvSpPr>
          <p:cNvPr id="10" name="Footer Placeholder 4">
            <a:extLst>
              <a:ext uri="{FF2B5EF4-FFF2-40B4-BE49-F238E27FC236}">
                <a16:creationId xmlns:a16="http://schemas.microsoft.com/office/drawing/2014/main" id="{A9A90DE7-FAAB-4B91-AC83-B18850F1EC89}"/>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1" name="Slide Number Placeholder 5">
            <a:extLst>
              <a:ext uri="{FF2B5EF4-FFF2-40B4-BE49-F238E27FC236}">
                <a16:creationId xmlns:a16="http://schemas.microsoft.com/office/drawing/2014/main" id="{0FD5971E-BD21-416C-BC2E-97EE0E09A50C}"/>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4079575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6/29/2026</a:t>
            </a:fld>
            <a:endParaRPr lang="en-US"/>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7" name="Title 8">
            <a:extLst>
              <a:ext uri="{FF2B5EF4-FFF2-40B4-BE49-F238E27FC236}">
                <a16:creationId xmlns:a16="http://schemas.microsoft.com/office/drawing/2014/main" id="{DEAFB3E9-4F5E-435C-B51A-CC5766A852D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a:t>
            </a:r>
          </a:p>
        </p:txBody>
      </p:sp>
      <p:sp>
        <p:nvSpPr>
          <p:cNvPr id="8" name="Content Placeholder 7">
            <a:extLst>
              <a:ext uri="{FF2B5EF4-FFF2-40B4-BE49-F238E27FC236}">
                <a16:creationId xmlns:a16="http://schemas.microsoft.com/office/drawing/2014/main" id="{69C57778-6639-411E-9B4C-12D035AECE27}"/>
              </a:ext>
            </a:extLst>
          </p:cNvPr>
          <p:cNvSpPr>
            <a:spLocks noGrp="1"/>
          </p:cNvSpPr>
          <p:nvPr>
            <p:ph sz="quarter" idx="13"/>
          </p:nvPr>
        </p:nvSpPr>
        <p:spPr>
          <a:xfrm>
            <a:off x="338736" y="1058844"/>
            <a:ext cx="11514528" cy="490912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1329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6/29/2026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38876699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t>6/29/2026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958126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8A78F82-82C6-4F07-B7D8-4A1219A1BB4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19A9EFEF-A194-4819-82D7-1112425D0E86}" type="datetime1">
              <a:rPr lang="en-US" smtClean="0"/>
              <a:pPr/>
              <a:t>6/29/2026</a:t>
            </a:fld>
            <a:endParaRPr lang="en-US"/>
          </a:p>
        </p:txBody>
      </p:sp>
      <p:sp>
        <p:nvSpPr>
          <p:cNvPr id="8" name="Footer Placeholder 4">
            <a:extLst>
              <a:ext uri="{FF2B5EF4-FFF2-40B4-BE49-F238E27FC236}">
                <a16:creationId xmlns:a16="http://schemas.microsoft.com/office/drawing/2014/main" id="{12041C72-5CA2-4523-9F1E-50662A3276CE}"/>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3AD6B24F-6759-4931-A1C4-77BA8AF7E085}"/>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0" name="Title 8">
            <a:extLst>
              <a:ext uri="{FF2B5EF4-FFF2-40B4-BE49-F238E27FC236}">
                <a16:creationId xmlns:a16="http://schemas.microsoft.com/office/drawing/2014/main" id="{1CD850F7-B0EC-49AD-960D-051EAF5F36DD}"/>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a:t>
            </a:r>
          </a:p>
        </p:txBody>
      </p:sp>
      <p:sp>
        <p:nvSpPr>
          <p:cNvPr id="11" name="Chart Placeholder 14">
            <a:extLst>
              <a:ext uri="{FF2B5EF4-FFF2-40B4-BE49-F238E27FC236}">
                <a16:creationId xmlns:a16="http://schemas.microsoft.com/office/drawing/2014/main" id="{4A80550F-98CB-400B-9D36-210A7AED20E8}"/>
              </a:ext>
            </a:extLst>
          </p:cNvPr>
          <p:cNvSpPr>
            <a:spLocks noGrp="1"/>
          </p:cNvSpPr>
          <p:nvPr>
            <p:ph type="chart" sz="quarter" idx="13" hasCustomPrompt="1"/>
          </p:nvPr>
        </p:nvSpPr>
        <p:spPr>
          <a:xfrm>
            <a:off x="338736" y="1406525"/>
            <a:ext cx="5757264" cy="4670425"/>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2" name="Table Placeholder 16">
            <a:extLst>
              <a:ext uri="{FF2B5EF4-FFF2-40B4-BE49-F238E27FC236}">
                <a16:creationId xmlns:a16="http://schemas.microsoft.com/office/drawing/2014/main" id="{15345DA2-1E92-473D-9483-A24F87614F3D}"/>
              </a:ext>
            </a:extLst>
          </p:cNvPr>
          <p:cNvSpPr>
            <a:spLocks noGrp="1"/>
          </p:cNvSpPr>
          <p:nvPr>
            <p:ph type="tbl" sz="quarter" idx="14" hasCustomPrompt="1"/>
          </p:nvPr>
        </p:nvSpPr>
        <p:spPr>
          <a:xfrm>
            <a:off x="6210300" y="1392239"/>
            <a:ext cx="5592763" cy="46847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Table</a:t>
            </a:r>
          </a:p>
        </p:txBody>
      </p:sp>
    </p:spTree>
    <p:extLst>
      <p:ext uri="{BB962C8B-B14F-4D97-AF65-F5344CB8AC3E}">
        <p14:creationId xmlns:p14="http://schemas.microsoft.com/office/powerpoint/2010/main" val="32426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e Placeholder 3">
            <a:extLst>
              <a:ext uri="{FF2B5EF4-FFF2-40B4-BE49-F238E27FC236}">
                <a16:creationId xmlns:a16="http://schemas.microsoft.com/office/drawing/2014/main" id="{4F1F29B1-F2F8-4527-A0B9-5A566F0DB568}"/>
              </a:ext>
            </a:extLst>
          </p:cNvPr>
          <p:cNvSpPr>
            <a:spLocks noGrp="1"/>
          </p:cNvSpPr>
          <p:nvPr>
            <p:ph type="dt" sz="half" idx="10"/>
          </p:nvPr>
        </p:nvSpPr>
        <p:spPr>
          <a:xfrm>
            <a:off x="838200" y="6486006"/>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EEBFCEF3-2DDE-476B-8A96-303EC557333C}" type="datetime1">
              <a:rPr lang="en-US" smtClean="0"/>
              <a:pPr/>
              <a:t>6/29/2026</a:t>
            </a:fld>
            <a:endParaRPr lang="en-US"/>
          </a:p>
        </p:txBody>
      </p:sp>
      <p:sp>
        <p:nvSpPr>
          <p:cNvPr id="7" name="Footer Placeholder 4">
            <a:extLst>
              <a:ext uri="{FF2B5EF4-FFF2-40B4-BE49-F238E27FC236}">
                <a16:creationId xmlns:a16="http://schemas.microsoft.com/office/drawing/2014/main" id="{B1F89192-9608-4DA0-9D58-CE5D74F0161B}"/>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8" name="Slide Number Placeholder 5">
            <a:extLst>
              <a:ext uri="{FF2B5EF4-FFF2-40B4-BE49-F238E27FC236}">
                <a16:creationId xmlns:a16="http://schemas.microsoft.com/office/drawing/2014/main" id="{41300396-45C9-472A-AA37-70408F1C2FAF}"/>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9" name="Content Placeholder 4">
            <a:extLst>
              <a:ext uri="{FF2B5EF4-FFF2-40B4-BE49-F238E27FC236}">
                <a16:creationId xmlns:a16="http://schemas.microsoft.com/office/drawing/2014/main" id="{45B855E6-8413-49D5-929E-33A3B3627516}"/>
              </a:ext>
            </a:extLst>
          </p:cNvPr>
          <p:cNvSpPr>
            <a:spLocks noGrp="1"/>
          </p:cNvSpPr>
          <p:nvPr>
            <p:ph sz="quarter" idx="13"/>
          </p:nvPr>
        </p:nvSpPr>
        <p:spPr>
          <a:xfrm>
            <a:off x="4558372" y="1248325"/>
            <a:ext cx="7391400" cy="52054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AB6BBE52-BFE6-4B4F-95C1-25C2EB84A64F}"/>
              </a:ext>
            </a:extLst>
          </p:cNvPr>
          <p:cNvSpPr>
            <a:spLocks noGrp="1"/>
          </p:cNvSpPr>
          <p:nvPr>
            <p:ph type="title" hasCustomPrompt="1"/>
          </p:nvPr>
        </p:nvSpPr>
        <p:spPr>
          <a:xfrm>
            <a:off x="4558372" y="404265"/>
            <a:ext cx="7391400" cy="436098"/>
          </a:xfrm>
          <a:prstGeom prst="rect">
            <a:avLst/>
          </a:prstGeom>
        </p:spPr>
        <p:txBody>
          <a:bodyPr/>
          <a:lstStyle>
            <a:lvl1pPr>
              <a:defRPr sz="2800" b="1">
                <a:solidFill>
                  <a:schemeClr val="tx1"/>
                </a:solidFill>
                <a:latin typeface="Lato" panose="020F0502020204030203" pitchFamily="34" charset="0"/>
                <a:ea typeface="Lato" panose="020F0502020204030203" pitchFamily="34" charset="0"/>
                <a:cs typeface="Lato" panose="020F0502020204030203" pitchFamily="34" charset="0"/>
              </a:defRPr>
            </a:lvl1pPr>
          </a:lstStyle>
          <a:p>
            <a:r>
              <a:rPr lang="en-US" dirty="0"/>
              <a:t>Title 5:……………………………………..</a:t>
            </a:r>
          </a:p>
        </p:txBody>
      </p:sp>
    </p:spTree>
    <p:extLst>
      <p:ext uri="{BB962C8B-B14F-4D97-AF65-F5344CB8AC3E}">
        <p14:creationId xmlns:p14="http://schemas.microsoft.com/office/powerpoint/2010/main" val="4113439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t>6/29/2026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17913358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6/29/2026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960585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t>6/29/2026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7500320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6/29/2026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1226200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A21A061D-9F38-49ED-BAF8-8055D9FB97A5}"/>
              </a:ext>
            </a:extLst>
          </p:cNvPr>
          <p:cNvSpPr>
            <a:spLocks noGrp="1"/>
          </p:cNvSpPr>
          <p:nvPr>
            <p:ph type="dt" sz="half" idx="10"/>
          </p:nvPr>
        </p:nvSpPr>
        <p:spPr>
          <a:xfrm>
            <a:off x="838200" y="6492875"/>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82F65D4C-DEE4-4C7B-91C4-D6D57A523E98}" type="datetime1">
              <a:rPr lang="en-US" smtClean="0"/>
              <a:pPr/>
              <a:t>6/29/2026</a:t>
            </a:fld>
            <a:endParaRPr lang="en-US"/>
          </a:p>
        </p:txBody>
      </p:sp>
      <p:sp>
        <p:nvSpPr>
          <p:cNvPr id="9" name="Footer Placeholder 4">
            <a:extLst>
              <a:ext uri="{FF2B5EF4-FFF2-40B4-BE49-F238E27FC236}">
                <a16:creationId xmlns:a16="http://schemas.microsoft.com/office/drawing/2014/main" id="{490FAA6E-46AD-4366-8E80-2F5BEB7D5B24}"/>
              </a:ext>
            </a:extLst>
          </p:cNvPr>
          <p:cNvSpPr>
            <a:spLocks noGrp="1"/>
          </p:cNvSpPr>
          <p:nvPr>
            <p:ph type="ftr" sz="quarter" idx="11"/>
          </p:nvPr>
        </p:nvSpPr>
        <p:spPr>
          <a:xfrm>
            <a:off x="4038600" y="6492875"/>
            <a:ext cx="41148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9A5604C7-0828-446E-97CC-8D6162E69E60}"/>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0148816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60333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4">
            <a:extLst>
              <a:ext uri="{FF2B5EF4-FFF2-40B4-BE49-F238E27FC236}">
                <a16:creationId xmlns:a16="http://schemas.microsoft.com/office/drawing/2014/main" id="{4C167836-5AFF-4757-AB55-39FD3BBF9D47}"/>
              </a:ext>
            </a:extLst>
          </p:cNvPr>
          <p:cNvSpPr>
            <a:spLocks noGrp="1"/>
          </p:cNvSpPr>
          <p:nvPr>
            <p:ph type="title" hasCustomPrompt="1"/>
          </p:nvPr>
        </p:nvSpPr>
        <p:spPr>
          <a:xfrm>
            <a:off x="3788898" y="2461846"/>
            <a:ext cx="4614203" cy="1934307"/>
          </a:xfrm>
          <a:prstGeom prst="rect">
            <a:avLst/>
          </a:prstGeom>
        </p:spPr>
        <p:txBody>
          <a:bodyPr/>
          <a:lstStyle>
            <a:lvl1pPr algn="ctr">
              <a:defRPr sz="4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CLICK TO EDIT MASTER TITLE STYLE</a:t>
            </a:r>
          </a:p>
        </p:txBody>
      </p:sp>
    </p:spTree>
    <p:extLst>
      <p:ext uri="{BB962C8B-B14F-4D97-AF65-F5344CB8AC3E}">
        <p14:creationId xmlns:p14="http://schemas.microsoft.com/office/powerpoint/2010/main" val="2981520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954338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5" r:id="rId5"/>
    <p:sldLayoutId id="2147483654" r:id="rId6"/>
    <p:sldLayoutId id="2147483660" r:id="rId7"/>
    <p:sldLayoutId id="2147483659" r:id="rId8"/>
    <p:sldLayoutId id="2147483658" r:id="rId9"/>
    <p:sldLayoutId id="2147483661" r:id="rId10"/>
    <p:sldLayoutId id="2147483656" r:id="rId11"/>
    <p:sldLayoutId id="2147483657" r:id="rId12"/>
    <p:sldLayoutId id="2147483649"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3553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3">
            <a:extLst>
              <a:ext uri="{FF2B5EF4-FFF2-40B4-BE49-F238E27FC236}">
                <a16:creationId xmlns:a16="http://schemas.microsoft.com/office/drawing/2014/main" id="{737FC17F-78B9-4DA3-B1E3-B6651CB1745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86634" y="331380"/>
            <a:ext cx="3174367" cy="952975"/>
          </a:xfrm>
          <a:prstGeom prst="rect">
            <a:avLst/>
          </a:prstGeom>
        </p:spPr>
      </p:pic>
      <p:sp>
        <p:nvSpPr>
          <p:cNvPr id="3" name="Title 6">
            <a:extLst>
              <a:ext uri="{FF2B5EF4-FFF2-40B4-BE49-F238E27FC236}">
                <a16:creationId xmlns:a16="http://schemas.microsoft.com/office/drawing/2014/main" id="{5702E00C-3125-4CD1-A5F8-64723BF48E3E}"/>
              </a:ext>
            </a:extLst>
          </p:cNvPr>
          <p:cNvSpPr txBox="1">
            <a:spLocks/>
          </p:cNvSpPr>
          <p:nvPr/>
        </p:nvSpPr>
        <p:spPr>
          <a:xfrm>
            <a:off x="386634" y="2219413"/>
            <a:ext cx="10072982" cy="848792"/>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dirty="0"/>
              <a:t>Classification of Malware Behavior Based on Known Malware Samples</a:t>
            </a:r>
          </a:p>
        </p:txBody>
      </p:sp>
      <p:sp>
        <p:nvSpPr>
          <p:cNvPr id="4" name="Title 6">
            <a:extLst>
              <a:ext uri="{FF2B5EF4-FFF2-40B4-BE49-F238E27FC236}">
                <a16:creationId xmlns:a16="http://schemas.microsoft.com/office/drawing/2014/main" id="{72BF49D9-2FCE-4950-8B1C-F580CC18F4C9}"/>
              </a:ext>
            </a:extLst>
          </p:cNvPr>
          <p:cNvSpPr txBox="1">
            <a:spLocks/>
          </p:cNvSpPr>
          <p:nvPr/>
        </p:nvSpPr>
        <p:spPr>
          <a:xfrm>
            <a:off x="311989" y="4718337"/>
            <a:ext cx="7342482" cy="848793"/>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sz="2800" b="0" dirty="0"/>
          </a:p>
        </p:txBody>
      </p:sp>
      <p:sp>
        <p:nvSpPr>
          <p:cNvPr id="9" name="Slide Number Placeholder 8">
            <a:extLst>
              <a:ext uri="{FF2B5EF4-FFF2-40B4-BE49-F238E27FC236}">
                <a16:creationId xmlns:a16="http://schemas.microsoft.com/office/drawing/2014/main" id="{99BF4829-01AB-4F75-A03B-DF4FC4C312C6}"/>
              </a:ext>
            </a:extLst>
          </p:cNvPr>
          <p:cNvSpPr>
            <a:spLocks noGrp="1"/>
          </p:cNvSpPr>
          <p:nvPr>
            <p:ph type="sldNum" sz="quarter" idx="12"/>
          </p:nvPr>
        </p:nvSpPr>
        <p:spPr/>
        <p:txBody>
          <a:bodyPr/>
          <a:lstStyle/>
          <a:p>
            <a:fld id="{9EA0BE3B-158A-4EDF-80DC-E394A0D1600F}" type="slidenum">
              <a:rPr lang="en-US" smtClean="0"/>
              <a:pPr/>
              <a:t>2</a:t>
            </a:fld>
            <a:endParaRPr lang="en-US"/>
          </a:p>
        </p:txBody>
      </p:sp>
    </p:spTree>
    <p:extLst>
      <p:ext uri="{BB962C8B-B14F-4D97-AF65-F5344CB8AC3E}">
        <p14:creationId xmlns:p14="http://schemas.microsoft.com/office/powerpoint/2010/main" val="7431729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B3AB5-95DF-4273-871C-843529DB7255}"/>
              </a:ext>
            </a:extLst>
          </p:cNvPr>
          <p:cNvSpPr>
            <a:spLocks noGrp="1"/>
          </p:cNvSpPr>
          <p:nvPr>
            <p:ph type="title"/>
          </p:nvPr>
        </p:nvSpPr>
        <p:spPr/>
        <p:txBody>
          <a:bodyPr/>
          <a:lstStyle/>
          <a:p>
            <a:r>
              <a:rPr lang="en-US" dirty="0"/>
              <a:t>Members</a:t>
            </a:r>
          </a:p>
        </p:txBody>
      </p:sp>
      <p:sp>
        <p:nvSpPr>
          <p:cNvPr id="3" name="Content Placeholder 2">
            <a:extLst>
              <a:ext uri="{FF2B5EF4-FFF2-40B4-BE49-F238E27FC236}">
                <a16:creationId xmlns:a16="http://schemas.microsoft.com/office/drawing/2014/main" id="{3573E091-9DCD-4DE7-96D1-A93E44E0F5B9}"/>
              </a:ext>
            </a:extLst>
          </p:cNvPr>
          <p:cNvSpPr>
            <a:spLocks noGrp="1"/>
          </p:cNvSpPr>
          <p:nvPr>
            <p:ph sz="quarter" idx="13"/>
          </p:nvPr>
        </p:nvSpPr>
        <p:spPr/>
        <p:txBody>
          <a:bodyPr/>
          <a:lstStyle/>
          <a:p>
            <a:r>
              <a:rPr lang="en-US" dirty="0"/>
              <a:t>Đinh Phương Mai – 202417162</a:t>
            </a:r>
          </a:p>
          <a:p>
            <a:r>
              <a:rPr lang="en-US" dirty="0"/>
              <a:t>Nguyễn Thành Công - 202416783</a:t>
            </a:r>
          </a:p>
          <a:p>
            <a:endParaRPr lang="en-US" dirty="0"/>
          </a:p>
        </p:txBody>
      </p:sp>
      <p:sp>
        <p:nvSpPr>
          <p:cNvPr id="4" name="Slide Number Placeholder 3">
            <a:extLst>
              <a:ext uri="{FF2B5EF4-FFF2-40B4-BE49-F238E27FC236}">
                <a16:creationId xmlns:a16="http://schemas.microsoft.com/office/drawing/2014/main" id="{6CAB879D-D188-4DA3-8675-F8BCF379A12E}"/>
              </a:ext>
            </a:extLst>
          </p:cNvPr>
          <p:cNvSpPr>
            <a:spLocks noGrp="1"/>
          </p:cNvSpPr>
          <p:nvPr>
            <p:ph type="sldNum" sz="quarter" idx="12"/>
          </p:nvPr>
        </p:nvSpPr>
        <p:spPr/>
        <p:txBody>
          <a:bodyPr/>
          <a:lstStyle/>
          <a:p>
            <a:fld id="{9EA0BE3B-158A-4EDF-80DC-E394A0D1600F}" type="slidenum">
              <a:rPr lang="en-US" smtClean="0"/>
              <a:pPr/>
              <a:t>3</a:t>
            </a:fld>
            <a:endParaRPr lang="en-US" dirty="0"/>
          </a:p>
        </p:txBody>
      </p:sp>
    </p:spTree>
    <p:extLst>
      <p:ext uri="{BB962C8B-B14F-4D97-AF65-F5344CB8AC3E}">
        <p14:creationId xmlns:p14="http://schemas.microsoft.com/office/powerpoint/2010/main" val="221433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p:txBody>
          <a:bodyPr/>
          <a:lstStyle/>
          <a:p>
            <a:r>
              <a:rPr lang="en-US" dirty="0"/>
              <a:t>Table of Contents </a:t>
            </a:r>
          </a:p>
        </p:txBody>
      </p:sp>
      <p:sp>
        <p:nvSpPr>
          <p:cNvPr id="3" name="Chart Placeholder 2">
            <a:extLst>
              <a:ext uri="{FF2B5EF4-FFF2-40B4-BE49-F238E27FC236}">
                <a16:creationId xmlns:a16="http://schemas.microsoft.com/office/drawing/2014/main" id="{C8196C5E-7B93-4E81-B617-CD97C06D6032}"/>
              </a:ext>
            </a:extLst>
          </p:cNvPr>
          <p:cNvSpPr>
            <a:spLocks noGrp="1"/>
          </p:cNvSpPr>
          <p:nvPr>
            <p:ph type="chart" sz="quarter" idx="13"/>
          </p:nvPr>
        </p:nvSpPr>
        <p:spPr>
          <a:xfrm>
            <a:off x="330200" y="1406769"/>
            <a:ext cx="10623939" cy="4655894"/>
          </a:xfrm>
        </p:spPr>
        <p:txBody>
          <a:bodyPr/>
          <a:lstStyle/>
          <a:p>
            <a:pPr marL="0" indent="0">
              <a:buNone/>
            </a:pPr>
            <a:r>
              <a:rPr lang="en-US" dirty="0"/>
              <a:t>0. Background</a:t>
            </a:r>
          </a:p>
          <a:p>
            <a:pPr marL="0" indent="0">
              <a:buNone/>
            </a:pPr>
            <a:r>
              <a:rPr lang="en-US" dirty="0"/>
              <a:t>1. Theoretical Background (Rules)</a:t>
            </a:r>
          </a:p>
          <a:p>
            <a:pPr marL="0" indent="0">
              <a:buNone/>
            </a:pPr>
            <a:r>
              <a:rPr lang="en-US" dirty="0"/>
              <a:t>2. System Architecture</a:t>
            </a:r>
          </a:p>
          <a:p>
            <a:pPr marL="0" indent="0">
              <a:buNone/>
            </a:pPr>
            <a:r>
              <a:rPr lang="en-US" dirty="0"/>
              <a:t>3. Evaluation</a:t>
            </a:r>
          </a:p>
          <a:p>
            <a:pPr marL="0" indent="0">
              <a:buNone/>
            </a:pPr>
            <a:r>
              <a:rPr lang="en-US" dirty="0"/>
              <a:t>4. Conclusion</a:t>
            </a:r>
          </a:p>
        </p:txBody>
      </p:sp>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sz="quarter" idx="12"/>
          </p:nvPr>
        </p:nvSpPr>
        <p:spPr/>
        <p:txBody>
          <a:bodyPr/>
          <a:lstStyle/>
          <a:p>
            <a:fld id="{9EA0BE3B-158A-4EDF-80DC-E394A0D1600F}" type="slidenum">
              <a:rPr lang="en-US" smtClean="0"/>
              <a:pPr/>
              <a:t>4</a:t>
            </a:fld>
            <a:endParaRPr lang="en-US"/>
          </a:p>
        </p:txBody>
      </p:sp>
    </p:spTree>
    <p:extLst>
      <p:ext uri="{BB962C8B-B14F-4D97-AF65-F5344CB8AC3E}">
        <p14:creationId xmlns:p14="http://schemas.microsoft.com/office/powerpoint/2010/main" val="64084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71743F-AF98-D9A4-38DE-D63D570C3B51}"/>
              </a:ext>
            </a:extLst>
          </p:cNvPr>
          <p:cNvSpPr>
            <a:spLocks noGrp="1"/>
          </p:cNvSpPr>
          <p:nvPr>
            <p:ph type="sldNum" sz="quarter" idx="12"/>
          </p:nvPr>
        </p:nvSpPr>
        <p:spPr/>
        <p:txBody>
          <a:bodyPr/>
          <a:lstStyle/>
          <a:p>
            <a:fld id="{9EA0BE3B-158A-4EDF-80DC-E394A0D1600F}" type="slidenum">
              <a:rPr lang="en-US" smtClean="0"/>
              <a:pPr/>
              <a:t>5</a:t>
            </a:fld>
            <a:endParaRPr lang="en-US" dirty="0"/>
          </a:p>
        </p:txBody>
      </p:sp>
      <p:sp>
        <p:nvSpPr>
          <p:cNvPr id="3" name="Title 2">
            <a:extLst>
              <a:ext uri="{FF2B5EF4-FFF2-40B4-BE49-F238E27FC236}">
                <a16:creationId xmlns:a16="http://schemas.microsoft.com/office/drawing/2014/main" id="{2B3495A2-1275-9E3F-D0EB-433D6AD92C5D}"/>
              </a:ext>
            </a:extLst>
          </p:cNvPr>
          <p:cNvSpPr>
            <a:spLocks noGrp="1"/>
          </p:cNvSpPr>
          <p:nvPr>
            <p:ph type="title"/>
          </p:nvPr>
        </p:nvSpPr>
        <p:spPr/>
        <p:txBody>
          <a:bodyPr/>
          <a:lstStyle/>
          <a:p>
            <a:r>
              <a:rPr lang="en-US" dirty="0"/>
              <a:t>0. Background</a:t>
            </a:r>
          </a:p>
        </p:txBody>
      </p:sp>
      <p:sp>
        <p:nvSpPr>
          <p:cNvPr id="4" name="Content Placeholder 3">
            <a:extLst>
              <a:ext uri="{FF2B5EF4-FFF2-40B4-BE49-F238E27FC236}">
                <a16:creationId xmlns:a16="http://schemas.microsoft.com/office/drawing/2014/main" id="{97D7EECA-D2C3-407A-A89E-02D42774B87D}"/>
              </a:ext>
            </a:extLst>
          </p:cNvPr>
          <p:cNvSpPr>
            <a:spLocks noGrp="1"/>
          </p:cNvSpPr>
          <p:nvPr>
            <p:ph sz="quarter" idx="13"/>
          </p:nvPr>
        </p:nvSpPr>
        <p:spPr/>
        <p:txBody>
          <a:bodyPr/>
          <a:lstStyle/>
          <a:p>
            <a:r>
              <a:rPr lang="en-US" dirty="0"/>
              <a:t>Malicious software (malware) continues to grow in volume and sophistication. Malware families such as Trojans, Botnets, Ransomware, Spyware, Worms, and Remote Access Trojans (RATs),… pose severe security risks to enterprise networks and end-user hosts. </a:t>
            </a:r>
            <a:br>
              <a:rPr lang="en-US" dirty="0"/>
            </a:br>
            <a:endParaRPr lang="en-US" dirty="0"/>
          </a:p>
          <a:p>
            <a:endParaRPr lang="en-US" dirty="0"/>
          </a:p>
        </p:txBody>
      </p:sp>
    </p:spTree>
    <p:extLst>
      <p:ext uri="{BB962C8B-B14F-4D97-AF65-F5344CB8AC3E}">
        <p14:creationId xmlns:p14="http://schemas.microsoft.com/office/powerpoint/2010/main" val="39275433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C159E-CB27-8AD9-411E-AB354F5BE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DAEB5-F638-4387-3C46-C1413E9CC18A}"/>
              </a:ext>
            </a:extLst>
          </p:cNvPr>
          <p:cNvSpPr>
            <a:spLocks noGrp="1"/>
          </p:cNvSpPr>
          <p:nvPr>
            <p:ph type="sldNum" sz="quarter" idx="12"/>
          </p:nvPr>
        </p:nvSpPr>
        <p:spPr/>
        <p:txBody>
          <a:bodyPr/>
          <a:lstStyle/>
          <a:p>
            <a:fld id="{9EA0BE3B-158A-4EDF-80DC-E394A0D1600F}" type="slidenum">
              <a:rPr lang="en-US" smtClean="0"/>
              <a:pPr/>
              <a:t>6</a:t>
            </a:fld>
            <a:endParaRPr lang="en-US" dirty="0"/>
          </a:p>
        </p:txBody>
      </p:sp>
      <p:sp>
        <p:nvSpPr>
          <p:cNvPr id="3" name="Title 2">
            <a:extLst>
              <a:ext uri="{FF2B5EF4-FFF2-40B4-BE49-F238E27FC236}">
                <a16:creationId xmlns:a16="http://schemas.microsoft.com/office/drawing/2014/main" id="{0057A6DB-E7D7-7714-B067-8420FCC91040}"/>
              </a:ext>
            </a:extLst>
          </p:cNvPr>
          <p:cNvSpPr>
            <a:spLocks noGrp="1"/>
          </p:cNvSpPr>
          <p:nvPr>
            <p:ph type="title"/>
          </p:nvPr>
        </p:nvSpPr>
        <p:spPr/>
        <p:txBody>
          <a:bodyPr/>
          <a:lstStyle/>
          <a:p>
            <a:r>
              <a:rPr lang="en-US" dirty="0"/>
              <a:t>0. Background - Objective</a:t>
            </a:r>
          </a:p>
        </p:txBody>
      </p:sp>
      <p:sp>
        <p:nvSpPr>
          <p:cNvPr id="4" name="Content Placeholder 3">
            <a:extLst>
              <a:ext uri="{FF2B5EF4-FFF2-40B4-BE49-F238E27FC236}">
                <a16:creationId xmlns:a16="http://schemas.microsoft.com/office/drawing/2014/main" id="{DE191A71-3C7A-C10C-0C1F-6CC136D14D60}"/>
              </a:ext>
            </a:extLst>
          </p:cNvPr>
          <p:cNvSpPr>
            <a:spLocks noGrp="1"/>
          </p:cNvSpPr>
          <p:nvPr>
            <p:ph sz="quarter" idx="13"/>
          </p:nvPr>
        </p:nvSpPr>
        <p:spPr/>
        <p:txBody>
          <a:bodyPr/>
          <a:lstStyle/>
          <a:p>
            <a:r>
              <a:rPr lang="en-US" dirty="0"/>
              <a:t>To design and implement a static analysis tool </a:t>
            </a:r>
            <a:br>
              <a:rPr lang="en-US" dirty="0"/>
            </a:br>
            <a:endParaRPr lang="en-US" dirty="0"/>
          </a:p>
          <a:p>
            <a:r>
              <a:rPr lang="en-US" dirty="0"/>
              <a:t>To implement Finite State Machines (FSMs) capable of identifying anti-analysis behavior and unpacking sequences. </a:t>
            </a:r>
            <a:br>
              <a:rPr lang="en-US" dirty="0"/>
            </a:br>
            <a:endParaRPr lang="en-US" dirty="0"/>
          </a:p>
          <a:p>
            <a:r>
              <a:rPr lang="en-US" dirty="0"/>
              <a:t>To construct a weight-based heuristic scoring engine that aggregates structural anomaly markers to classify </a:t>
            </a:r>
            <a:r>
              <a:rPr lang="en-US" dirty="0" err="1"/>
              <a:t>fles</a:t>
            </a:r>
            <a:r>
              <a:rPr lang="en-US" dirty="0"/>
              <a:t> as benign or malware. </a:t>
            </a:r>
            <a:br>
              <a:rPr lang="en-US" dirty="0"/>
            </a:br>
            <a:endParaRPr lang="en-US" dirty="0"/>
          </a:p>
          <a:p>
            <a:r>
              <a:rPr lang="en-US" dirty="0"/>
              <a:t>To evaluate the engine’s capability against a curated dataset of benign files and wild malware samples </a:t>
            </a:r>
            <a:br>
              <a:rPr lang="en-US" dirty="0"/>
            </a:br>
            <a:endParaRPr lang="en-US" dirty="0"/>
          </a:p>
        </p:txBody>
      </p:sp>
    </p:spTree>
    <p:extLst>
      <p:ext uri="{BB962C8B-B14F-4D97-AF65-F5344CB8AC3E}">
        <p14:creationId xmlns:p14="http://schemas.microsoft.com/office/powerpoint/2010/main" val="630970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E94C72-168C-456A-97BE-48475BC6D343}"/>
              </a:ext>
            </a:extLst>
          </p:cNvPr>
          <p:cNvSpPr>
            <a:spLocks noGrp="1"/>
          </p:cNvSpPr>
          <p:nvPr>
            <p:ph type="sldNum" sz="quarter" idx="12"/>
          </p:nvPr>
        </p:nvSpPr>
        <p:spPr/>
        <p:txBody>
          <a:bodyPr/>
          <a:lstStyle/>
          <a:p>
            <a:fld id="{9EA0BE3B-158A-4EDF-80DC-E394A0D1600F}" type="slidenum">
              <a:rPr lang="en-US" smtClean="0"/>
              <a:pPr/>
              <a:t>7</a:t>
            </a:fld>
            <a:endParaRPr lang="en-US" dirty="0"/>
          </a:p>
        </p:txBody>
      </p:sp>
      <p:sp>
        <p:nvSpPr>
          <p:cNvPr id="3" name="Title 2">
            <a:extLst>
              <a:ext uri="{FF2B5EF4-FFF2-40B4-BE49-F238E27FC236}">
                <a16:creationId xmlns:a16="http://schemas.microsoft.com/office/drawing/2014/main" id="{E98F1C85-4596-E029-9F2A-992A93397B49}"/>
              </a:ext>
            </a:extLst>
          </p:cNvPr>
          <p:cNvSpPr>
            <a:spLocks noGrp="1"/>
          </p:cNvSpPr>
          <p:nvPr>
            <p:ph type="title"/>
          </p:nvPr>
        </p:nvSpPr>
        <p:spPr/>
        <p:txBody>
          <a:bodyPr/>
          <a:lstStyle/>
          <a:p>
            <a:r>
              <a:rPr lang="en-US" dirty="0"/>
              <a:t>0. Background - Scope</a:t>
            </a:r>
          </a:p>
        </p:txBody>
      </p:sp>
      <p:sp>
        <p:nvSpPr>
          <p:cNvPr id="4" name="Content Placeholder 3">
            <a:extLst>
              <a:ext uri="{FF2B5EF4-FFF2-40B4-BE49-F238E27FC236}">
                <a16:creationId xmlns:a16="http://schemas.microsoft.com/office/drawing/2014/main" id="{AABF5406-112F-5DAD-2A77-6787868C1E22}"/>
              </a:ext>
            </a:extLst>
          </p:cNvPr>
          <p:cNvSpPr>
            <a:spLocks noGrp="1"/>
          </p:cNvSpPr>
          <p:nvPr>
            <p:ph sz="quarter" idx="13"/>
          </p:nvPr>
        </p:nvSpPr>
        <p:spPr>
          <a:xfrm>
            <a:off x="273421" y="879319"/>
            <a:ext cx="11514528" cy="5099361"/>
          </a:xfrm>
        </p:spPr>
        <p:txBody>
          <a:bodyPr/>
          <a:lstStyle/>
          <a:p>
            <a:r>
              <a:rPr lang="en-US" dirty="0"/>
              <a:t>Target:</a:t>
            </a:r>
          </a:p>
          <a:p>
            <a:pPr lvl="1"/>
            <a:r>
              <a:rPr lang="en-US" dirty="0"/>
              <a:t>Windows executable files (PE files)</a:t>
            </a:r>
          </a:p>
          <a:p>
            <a:pPr lvl="1"/>
            <a:endParaRPr lang="en-US" dirty="0"/>
          </a:p>
          <a:p>
            <a:pPr lvl="1"/>
            <a:r>
              <a:rPr lang="en-US" dirty="0"/>
              <a:t>x86/x64 assembly source text (.</a:t>
            </a:r>
            <a:r>
              <a:rPr lang="en-US" dirty="0" err="1"/>
              <a:t>asm</a:t>
            </a:r>
            <a:r>
              <a:rPr lang="en-US" dirty="0"/>
              <a:t>) </a:t>
            </a:r>
            <a:r>
              <a:rPr lang="en-US" dirty="0" err="1"/>
              <a:t>fles</a:t>
            </a:r>
            <a:r>
              <a:rPr lang="en-US" dirty="0"/>
              <a:t> </a:t>
            </a:r>
          </a:p>
          <a:p>
            <a:pPr marL="457200" lvl="1" indent="0">
              <a:buNone/>
            </a:pPr>
            <a:endParaRPr lang="en-US" dirty="0"/>
          </a:p>
          <a:p>
            <a:r>
              <a:rPr lang="en-US" dirty="0"/>
              <a:t>The program extracts static features from either the PE structural headers, the </a:t>
            </a:r>
            <a:r>
              <a:rPr lang="en-US" dirty="0" err="1"/>
              <a:t>disassemblable</a:t>
            </a:r>
            <a:r>
              <a:rPr lang="en-US" dirty="0"/>
              <a:t> code segment (.text), or directly from the raw assembly statements in source </a:t>
            </a:r>
            <a:r>
              <a:rPr lang="en-US" dirty="0" err="1"/>
              <a:t>fles</a:t>
            </a:r>
            <a:r>
              <a:rPr lang="en-US" dirty="0"/>
              <a:t>. </a:t>
            </a:r>
          </a:p>
          <a:p>
            <a:endParaRPr lang="en-US" dirty="0"/>
          </a:p>
          <a:p>
            <a:r>
              <a:rPr lang="en-US" dirty="0"/>
              <a:t>The system does not execute any file, ensuring malware is analyzed inside a secure sandbox containment </a:t>
            </a:r>
            <a:br>
              <a:rPr lang="en-US" dirty="0"/>
            </a:br>
            <a:br>
              <a:rPr lang="en-US" dirty="0"/>
            </a:br>
            <a:br>
              <a:rPr lang="en-US" dirty="0"/>
            </a:br>
            <a:endParaRPr lang="en-US" dirty="0"/>
          </a:p>
        </p:txBody>
      </p:sp>
    </p:spTree>
    <p:extLst>
      <p:ext uri="{BB962C8B-B14F-4D97-AF65-F5344CB8AC3E}">
        <p14:creationId xmlns:p14="http://schemas.microsoft.com/office/powerpoint/2010/main" val="958242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D8591-C0C0-D866-D0E5-D21D00CE81A6}"/>
              </a:ext>
            </a:extLst>
          </p:cNvPr>
          <p:cNvSpPr>
            <a:spLocks noGrp="1"/>
          </p:cNvSpPr>
          <p:nvPr>
            <p:ph type="title"/>
          </p:nvPr>
        </p:nvSpPr>
        <p:spPr/>
        <p:txBody>
          <a:bodyPr/>
          <a:lstStyle/>
          <a:p>
            <a:r>
              <a:rPr lang="en-US" dirty="0"/>
              <a:t>0. Background – Environment and Tools</a:t>
            </a:r>
          </a:p>
        </p:txBody>
      </p:sp>
      <p:sp>
        <p:nvSpPr>
          <p:cNvPr id="3" name="Text Placeholder 2">
            <a:extLst>
              <a:ext uri="{FF2B5EF4-FFF2-40B4-BE49-F238E27FC236}">
                <a16:creationId xmlns:a16="http://schemas.microsoft.com/office/drawing/2014/main" id="{8A8A10E5-79BA-1CFA-320D-1B08EA339F58}"/>
              </a:ext>
            </a:extLst>
          </p:cNvPr>
          <p:cNvSpPr>
            <a:spLocks noGrp="1"/>
          </p:cNvSpPr>
          <p:nvPr>
            <p:ph type="body" sz="quarter" idx="13"/>
          </p:nvPr>
        </p:nvSpPr>
        <p:spPr>
          <a:xfrm>
            <a:off x="337539" y="1032510"/>
            <a:ext cx="11515725" cy="5230638"/>
          </a:xfrm>
        </p:spPr>
        <p:txBody>
          <a:bodyPr/>
          <a:lstStyle/>
          <a:p>
            <a:r>
              <a:rPr lang="en-US" sz="2400" b="1" dirty="0"/>
              <a:t>Environment (For testing): </a:t>
            </a:r>
            <a:r>
              <a:rPr lang="en-US" sz="2400" dirty="0"/>
              <a:t>Oracle </a:t>
            </a:r>
            <a:r>
              <a:rPr lang="en-US" sz="2200" dirty="0"/>
              <a:t>Window VM – Windows 10 x64 (Isolated offline)</a:t>
            </a:r>
            <a:endParaRPr lang="en-US" sz="2400" dirty="0"/>
          </a:p>
          <a:p>
            <a:r>
              <a:rPr lang="en-US" sz="2400" b="1" dirty="0"/>
              <a:t>Language:</a:t>
            </a:r>
            <a:r>
              <a:rPr lang="en-US" sz="2400" dirty="0"/>
              <a:t> </a:t>
            </a:r>
            <a:r>
              <a:rPr lang="en-US" sz="2200" dirty="0"/>
              <a:t>Python</a:t>
            </a:r>
            <a:endParaRPr lang="en-US" sz="2400" dirty="0"/>
          </a:p>
          <a:p>
            <a:r>
              <a:rPr lang="en-US" sz="2400" b="1" dirty="0"/>
              <a:t>Dataset: </a:t>
            </a:r>
          </a:p>
          <a:p>
            <a:pPr lvl="1"/>
            <a:r>
              <a:rPr lang="en-US" sz="2200" dirty="0"/>
              <a:t>Malware: </a:t>
            </a:r>
            <a:r>
              <a:rPr lang="en-US" sz="2200" dirty="0" err="1"/>
              <a:t>MalwareBazaar</a:t>
            </a:r>
            <a:endParaRPr lang="en-US" sz="2200" dirty="0"/>
          </a:p>
          <a:p>
            <a:pPr lvl="1"/>
            <a:r>
              <a:rPr lang="en-US" sz="2200" dirty="0"/>
              <a:t>Benign: System32 of original Window OS</a:t>
            </a:r>
          </a:p>
          <a:p>
            <a:r>
              <a:rPr lang="en-US" sz="2400" b="1" dirty="0"/>
              <a:t>Library: </a:t>
            </a:r>
            <a:r>
              <a:rPr lang="en-US" sz="2400" dirty="0" err="1"/>
              <a:t>pefile</a:t>
            </a:r>
            <a:r>
              <a:rPr lang="en-US" sz="2400" dirty="0"/>
              <a:t>, capstone, </a:t>
            </a:r>
            <a:r>
              <a:rPr lang="en-US" sz="2400" dirty="0" err="1"/>
              <a:t>pyzipper</a:t>
            </a:r>
            <a:r>
              <a:rPr lang="en-US" sz="2400" dirty="0"/>
              <a:t>, requests</a:t>
            </a:r>
          </a:p>
          <a:p>
            <a:r>
              <a:rPr lang="en-US" sz="2400" b="1" dirty="0"/>
              <a:t>Principle: </a:t>
            </a:r>
          </a:p>
          <a:p>
            <a:pPr lvl="1"/>
            <a:r>
              <a:rPr lang="en-US" sz="2200" dirty="0"/>
              <a:t>Heuristic evaluation: Detecting malware based on suspicious or abnormal indicators</a:t>
            </a:r>
          </a:p>
          <a:p>
            <a:pPr lvl="1"/>
            <a:r>
              <a:rPr lang="en-US" sz="2200" dirty="0"/>
              <a:t>Behavioral FSM: A specific sequence or order of API calls or Opcodes can form a distinct malicious behavior pattern</a:t>
            </a:r>
          </a:p>
          <a:p>
            <a:pPr lvl="1"/>
            <a:endParaRPr lang="en-US" dirty="0"/>
          </a:p>
        </p:txBody>
      </p:sp>
      <p:sp>
        <p:nvSpPr>
          <p:cNvPr id="4" name="Slide Number Placeholder 3">
            <a:extLst>
              <a:ext uri="{FF2B5EF4-FFF2-40B4-BE49-F238E27FC236}">
                <a16:creationId xmlns:a16="http://schemas.microsoft.com/office/drawing/2014/main" id="{434E49A1-4C6D-8015-A28A-EEE23F7E8ECD}"/>
              </a:ext>
            </a:extLst>
          </p:cNvPr>
          <p:cNvSpPr>
            <a:spLocks noGrp="1"/>
          </p:cNvSpPr>
          <p:nvPr>
            <p:ph type="sldNum" sz="quarter" idx="12"/>
          </p:nvPr>
        </p:nvSpPr>
        <p:spPr/>
        <p:txBody>
          <a:bodyPr/>
          <a:lstStyle/>
          <a:p>
            <a:fld id="{9EA0BE3B-158A-4EDF-80DC-E394A0D1600F}" type="slidenum">
              <a:rPr lang="en-US" smtClean="0"/>
              <a:pPr/>
              <a:t>8</a:t>
            </a:fld>
            <a:endParaRPr lang="en-US"/>
          </a:p>
        </p:txBody>
      </p:sp>
    </p:spTree>
    <p:extLst>
      <p:ext uri="{BB962C8B-B14F-4D97-AF65-F5344CB8AC3E}">
        <p14:creationId xmlns:p14="http://schemas.microsoft.com/office/powerpoint/2010/main" val="2898936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8FEEAA8-2F76-E533-215B-2E328B6C2B28}"/>
              </a:ext>
            </a:extLst>
          </p:cNvPr>
          <p:cNvSpPr>
            <a:spLocks noGrp="1"/>
          </p:cNvSpPr>
          <p:nvPr>
            <p:ph type="sldNum" sz="quarter" idx="12"/>
          </p:nvPr>
        </p:nvSpPr>
        <p:spPr/>
        <p:txBody>
          <a:bodyPr/>
          <a:lstStyle/>
          <a:p>
            <a:fld id="{9EA0BE3B-158A-4EDF-80DC-E394A0D1600F}" type="slidenum">
              <a:rPr lang="en-US" smtClean="0"/>
              <a:pPr/>
              <a:t>9</a:t>
            </a:fld>
            <a:endParaRPr lang="en-US" dirty="0"/>
          </a:p>
        </p:txBody>
      </p:sp>
      <p:sp>
        <p:nvSpPr>
          <p:cNvPr id="3" name="Title 2">
            <a:extLst>
              <a:ext uri="{FF2B5EF4-FFF2-40B4-BE49-F238E27FC236}">
                <a16:creationId xmlns:a16="http://schemas.microsoft.com/office/drawing/2014/main" id="{2C88D4D7-0AD9-AD52-A1B6-53198993CF0C}"/>
              </a:ext>
            </a:extLst>
          </p:cNvPr>
          <p:cNvSpPr>
            <a:spLocks noGrp="1"/>
          </p:cNvSpPr>
          <p:nvPr>
            <p:ph type="title"/>
          </p:nvPr>
        </p:nvSpPr>
        <p:spPr/>
        <p:txBody>
          <a:bodyPr/>
          <a:lstStyle/>
          <a:p>
            <a:r>
              <a:rPr lang="en-US" dirty="0"/>
              <a:t>1. Theoretical Background – PE Format &amp; Disassembly</a:t>
            </a:r>
          </a:p>
        </p:txBody>
      </p:sp>
      <p:sp>
        <p:nvSpPr>
          <p:cNvPr id="7" name="Rectangle 6">
            <a:extLst>
              <a:ext uri="{FF2B5EF4-FFF2-40B4-BE49-F238E27FC236}">
                <a16:creationId xmlns:a16="http://schemas.microsoft.com/office/drawing/2014/main" id="{1E6C4AA2-E8D2-46DD-70EC-19C1F79C5A22}"/>
              </a:ext>
            </a:extLst>
          </p:cNvPr>
          <p:cNvSpPr/>
          <p:nvPr/>
        </p:nvSpPr>
        <p:spPr>
          <a:xfrm>
            <a:off x="1984166" y="1794747"/>
            <a:ext cx="2028825" cy="714376"/>
          </a:xfrm>
          <a:prstGeom prst="rect">
            <a:avLst/>
          </a:prstGeom>
          <a:solidFill>
            <a:schemeClr val="bg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Lato" panose="020F0502020204030203" pitchFamily="34" charset="0"/>
                <a:ea typeface="Lato" panose="020F0502020204030203" pitchFamily="34" charset="0"/>
                <a:cs typeface="Lato" panose="020F0502020204030203" pitchFamily="34" charset="0"/>
              </a:rPr>
              <a:t>DOS MZ Header</a:t>
            </a:r>
          </a:p>
        </p:txBody>
      </p:sp>
      <p:sp>
        <p:nvSpPr>
          <p:cNvPr id="9" name="Rectangle 8">
            <a:extLst>
              <a:ext uri="{FF2B5EF4-FFF2-40B4-BE49-F238E27FC236}">
                <a16:creationId xmlns:a16="http://schemas.microsoft.com/office/drawing/2014/main" id="{BD1174F1-A4D4-A965-51F3-E5DD75A61FDE}"/>
              </a:ext>
            </a:extLst>
          </p:cNvPr>
          <p:cNvSpPr/>
          <p:nvPr/>
        </p:nvSpPr>
        <p:spPr>
          <a:xfrm>
            <a:off x="1973728" y="2837407"/>
            <a:ext cx="2028825" cy="714376"/>
          </a:xfrm>
          <a:prstGeom prst="rect">
            <a:avLst/>
          </a:prstGeom>
          <a:solidFill>
            <a:schemeClr val="bg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Lato" panose="020F0502020204030203" pitchFamily="34" charset="0"/>
                <a:ea typeface="Lato" panose="020F0502020204030203" pitchFamily="34" charset="0"/>
                <a:cs typeface="Lato" panose="020F0502020204030203" pitchFamily="34" charset="0"/>
              </a:rPr>
              <a:t>PE Signature</a:t>
            </a:r>
          </a:p>
        </p:txBody>
      </p:sp>
      <p:sp>
        <p:nvSpPr>
          <p:cNvPr id="11" name="Rectangle 10">
            <a:extLst>
              <a:ext uri="{FF2B5EF4-FFF2-40B4-BE49-F238E27FC236}">
                <a16:creationId xmlns:a16="http://schemas.microsoft.com/office/drawing/2014/main" id="{559D549F-6A0B-4E66-57D0-91B47766BAD8}"/>
              </a:ext>
            </a:extLst>
          </p:cNvPr>
          <p:cNvSpPr/>
          <p:nvPr/>
        </p:nvSpPr>
        <p:spPr>
          <a:xfrm>
            <a:off x="1963282" y="3880067"/>
            <a:ext cx="2028825" cy="714376"/>
          </a:xfrm>
          <a:prstGeom prst="rect">
            <a:avLst/>
          </a:prstGeom>
          <a:solidFill>
            <a:schemeClr val="bg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Lato" panose="020F0502020204030203" pitchFamily="34" charset="0"/>
                <a:ea typeface="Lato" panose="020F0502020204030203" pitchFamily="34" charset="0"/>
                <a:cs typeface="Lato" panose="020F0502020204030203" pitchFamily="34" charset="0"/>
              </a:rPr>
              <a:t>COFF File Header</a:t>
            </a:r>
          </a:p>
        </p:txBody>
      </p:sp>
      <p:sp>
        <p:nvSpPr>
          <p:cNvPr id="13" name="Rectangle 12">
            <a:extLst>
              <a:ext uri="{FF2B5EF4-FFF2-40B4-BE49-F238E27FC236}">
                <a16:creationId xmlns:a16="http://schemas.microsoft.com/office/drawing/2014/main" id="{64439E75-D948-34B4-471A-6A2E8C9FD930}"/>
              </a:ext>
            </a:extLst>
          </p:cNvPr>
          <p:cNvSpPr/>
          <p:nvPr/>
        </p:nvSpPr>
        <p:spPr>
          <a:xfrm>
            <a:off x="1949919" y="4922727"/>
            <a:ext cx="2028825" cy="714376"/>
          </a:xfrm>
          <a:prstGeom prst="rect">
            <a:avLst/>
          </a:prstGeom>
          <a:solidFill>
            <a:schemeClr val="bg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Lato" panose="020F0502020204030203" pitchFamily="34" charset="0"/>
                <a:ea typeface="Lato" panose="020F0502020204030203" pitchFamily="34" charset="0"/>
                <a:cs typeface="Lato" panose="020F0502020204030203" pitchFamily="34" charset="0"/>
              </a:rPr>
              <a:t>Optional Header</a:t>
            </a:r>
          </a:p>
        </p:txBody>
      </p:sp>
      <p:cxnSp>
        <p:nvCxnSpPr>
          <p:cNvPr id="17" name="Straight Arrow Connector 16">
            <a:extLst>
              <a:ext uri="{FF2B5EF4-FFF2-40B4-BE49-F238E27FC236}">
                <a16:creationId xmlns:a16="http://schemas.microsoft.com/office/drawing/2014/main" id="{0AAB9C0F-2627-5F04-3ECC-DDE8B4C9828F}"/>
              </a:ext>
            </a:extLst>
          </p:cNvPr>
          <p:cNvCxnSpPr>
            <a:cxnSpLocks/>
          </p:cNvCxnSpPr>
          <p:nvPr/>
        </p:nvCxnSpPr>
        <p:spPr>
          <a:xfrm>
            <a:off x="2988133" y="4594443"/>
            <a:ext cx="10446" cy="32828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F498AFC-2EAF-EA81-ACBB-603542E491DF}"/>
              </a:ext>
            </a:extLst>
          </p:cNvPr>
          <p:cNvSpPr txBox="1"/>
          <p:nvPr/>
        </p:nvSpPr>
        <p:spPr>
          <a:xfrm>
            <a:off x="4146362" y="1951880"/>
            <a:ext cx="6381749" cy="400110"/>
          </a:xfrm>
          <a:prstGeom prst="rect">
            <a:avLst/>
          </a:prstGeom>
          <a:noFill/>
        </p:spPr>
        <p:txBody>
          <a:bodyPr wrap="square" rtlCol="0">
            <a:spAutoFit/>
          </a:bodyPr>
          <a:lstStyle/>
          <a:p>
            <a:r>
              <a:rPr lang="en-US" sz="2000" dirty="0">
                <a:latin typeface="Lato" panose="020F0502020204030203" pitchFamily="34" charset="0"/>
                <a:ea typeface="Lato" panose="020F0502020204030203" pitchFamily="34" charset="0"/>
                <a:cs typeface="Lato" panose="020F0502020204030203" pitchFamily="34" charset="0"/>
              </a:rPr>
              <a:t>Responsible for backward compatibility</a:t>
            </a:r>
          </a:p>
        </p:txBody>
      </p:sp>
      <p:sp>
        <p:nvSpPr>
          <p:cNvPr id="20" name="TextBox 19">
            <a:extLst>
              <a:ext uri="{FF2B5EF4-FFF2-40B4-BE49-F238E27FC236}">
                <a16:creationId xmlns:a16="http://schemas.microsoft.com/office/drawing/2014/main" id="{A1C59B99-506B-8F28-9E82-D34E3244C169}"/>
              </a:ext>
            </a:extLst>
          </p:cNvPr>
          <p:cNvSpPr txBox="1"/>
          <p:nvPr/>
        </p:nvSpPr>
        <p:spPr>
          <a:xfrm>
            <a:off x="4146362" y="2994540"/>
            <a:ext cx="6381749" cy="400110"/>
          </a:xfrm>
          <a:prstGeom prst="rect">
            <a:avLst/>
          </a:prstGeom>
          <a:noFill/>
        </p:spPr>
        <p:txBody>
          <a:bodyPr wrap="square" rtlCol="0">
            <a:spAutoFit/>
          </a:bodyPr>
          <a:lstStyle/>
          <a:p>
            <a:r>
              <a:rPr lang="en-US" sz="2000" dirty="0">
                <a:latin typeface="Lato" panose="020F0502020204030203" pitchFamily="34" charset="0"/>
                <a:ea typeface="Lato" panose="020F0502020204030203" pitchFamily="34" charset="0"/>
                <a:cs typeface="Lato" panose="020F0502020204030203" pitchFamily="34" charset="0"/>
              </a:rPr>
              <a:t>Indicates PE file</a:t>
            </a:r>
          </a:p>
        </p:txBody>
      </p:sp>
      <p:sp>
        <p:nvSpPr>
          <p:cNvPr id="24" name="TextBox 23">
            <a:extLst>
              <a:ext uri="{FF2B5EF4-FFF2-40B4-BE49-F238E27FC236}">
                <a16:creationId xmlns:a16="http://schemas.microsoft.com/office/drawing/2014/main" id="{CB635D48-ACC0-755D-27E6-F47ACA2D8D6A}"/>
              </a:ext>
            </a:extLst>
          </p:cNvPr>
          <p:cNvSpPr txBox="1"/>
          <p:nvPr/>
        </p:nvSpPr>
        <p:spPr>
          <a:xfrm>
            <a:off x="4146361" y="4037200"/>
            <a:ext cx="6381749" cy="400110"/>
          </a:xfrm>
          <a:prstGeom prst="rect">
            <a:avLst/>
          </a:prstGeom>
          <a:noFill/>
        </p:spPr>
        <p:txBody>
          <a:bodyPr wrap="square" rtlCol="0">
            <a:spAutoFit/>
          </a:bodyPr>
          <a:lstStyle/>
          <a:p>
            <a:r>
              <a:rPr lang="en-US" sz="2000" dirty="0">
                <a:latin typeface="Lato" panose="020F0502020204030203" pitchFamily="34" charset="0"/>
                <a:ea typeface="Lato" panose="020F0502020204030203" pitchFamily="34" charset="0"/>
                <a:cs typeface="Lato" panose="020F0502020204030203" pitchFamily="34" charset="0"/>
              </a:rPr>
              <a:t>Specify machine types and number of sections</a:t>
            </a:r>
          </a:p>
        </p:txBody>
      </p:sp>
      <p:sp>
        <p:nvSpPr>
          <p:cNvPr id="26" name="TextBox 25">
            <a:extLst>
              <a:ext uri="{FF2B5EF4-FFF2-40B4-BE49-F238E27FC236}">
                <a16:creationId xmlns:a16="http://schemas.microsoft.com/office/drawing/2014/main" id="{43CCE440-C92E-A6F9-D5F9-B4E34FC61AFC}"/>
              </a:ext>
            </a:extLst>
          </p:cNvPr>
          <p:cNvSpPr txBox="1"/>
          <p:nvPr/>
        </p:nvSpPr>
        <p:spPr>
          <a:xfrm>
            <a:off x="4134457" y="5079860"/>
            <a:ext cx="7677151" cy="400110"/>
          </a:xfrm>
          <a:prstGeom prst="rect">
            <a:avLst/>
          </a:prstGeom>
          <a:noFill/>
        </p:spPr>
        <p:txBody>
          <a:bodyPr wrap="square" rtlCol="0">
            <a:spAutoFit/>
          </a:bodyPr>
          <a:lstStyle/>
          <a:p>
            <a:r>
              <a:rPr lang="en-US" sz="2000" dirty="0">
                <a:latin typeface="Lato" panose="020F0502020204030203" pitchFamily="34" charset="0"/>
                <a:ea typeface="Lato" panose="020F0502020204030203" pitchFamily="34" charset="0"/>
                <a:cs typeface="Lato" panose="020F0502020204030203" pitchFamily="34" charset="0"/>
              </a:rPr>
              <a:t>Contains entry point virtual address, image base, and directories </a:t>
            </a:r>
            <a:endParaRPr lang="en-US" sz="2400" dirty="0">
              <a:latin typeface="Lato" panose="020F0502020204030203" pitchFamily="34" charset="0"/>
              <a:ea typeface="Lato" panose="020F0502020204030203" pitchFamily="34" charset="0"/>
              <a:cs typeface="Lato" panose="020F0502020204030203" pitchFamily="34" charset="0"/>
            </a:endParaRPr>
          </a:p>
        </p:txBody>
      </p:sp>
      <p:cxnSp>
        <p:nvCxnSpPr>
          <p:cNvPr id="30" name="Straight Arrow Connector 29">
            <a:extLst>
              <a:ext uri="{FF2B5EF4-FFF2-40B4-BE49-F238E27FC236}">
                <a16:creationId xmlns:a16="http://schemas.microsoft.com/office/drawing/2014/main" id="{B2FF906E-FA77-D61A-467C-B5F770BAAC9F}"/>
              </a:ext>
            </a:extLst>
          </p:cNvPr>
          <p:cNvCxnSpPr>
            <a:cxnSpLocks/>
          </p:cNvCxnSpPr>
          <p:nvPr/>
        </p:nvCxnSpPr>
        <p:spPr>
          <a:xfrm>
            <a:off x="2953884" y="3551783"/>
            <a:ext cx="10446" cy="32828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5AA6EC9-F61C-26F4-ACF9-8246DB9CB829}"/>
              </a:ext>
            </a:extLst>
          </p:cNvPr>
          <p:cNvCxnSpPr>
            <a:cxnSpLocks/>
          </p:cNvCxnSpPr>
          <p:nvPr/>
        </p:nvCxnSpPr>
        <p:spPr>
          <a:xfrm>
            <a:off x="2967248" y="2502828"/>
            <a:ext cx="10446" cy="32828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B72FAF70-BB1D-98A3-562A-09FBFDE76935}"/>
              </a:ext>
            </a:extLst>
          </p:cNvPr>
          <p:cNvSpPr txBox="1"/>
          <p:nvPr/>
        </p:nvSpPr>
        <p:spPr>
          <a:xfrm>
            <a:off x="338736" y="948004"/>
            <a:ext cx="6381749" cy="523220"/>
          </a:xfrm>
          <a:prstGeom prst="rect">
            <a:avLst/>
          </a:prstGeom>
          <a:noFill/>
        </p:spPr>
        <p:txBody>
          <a:bodyPr wrap="square" rtlCol="0">
            <a:spAutoFit/>
          </a:bodyPr>
          <a:lstStyle/>
          <a:p>
            <a:pPr marL="342900" indent="-342900">
              <a:buFont typeface="Arial" panose="020B0604020202020204" pitchFamily="34" charset="0"/>
              <a:buChar char="•"/>
            </a:pPr>
            <a:r>
              <a:rPr lang="en-US" sz="2800" b="1" dirty="0">
                <a:latin typeface="Lato" panose="020F0502020204030203" pitchFamily="34" charset="0"/>
                <a:ea typeface="Lato" panose="020F0502020204030203" pitchFamily="34" charset="0"/>
                <a:cs typeface="Lato" panose="020F0502020204030203" pitchFamily="34" charset="0"/>
              </a:rPr>
              <a:t>Headers:</a:t>
            </a:r>
          </a:p>
        </p:txBody>
      </p:sp>
    </p:spTree>
    <p:extLst>
      <p:ext uri="{BB962C8B-B14F-4D97-AF65-F5344CB8AC3E}">
        <p14:creationId xmlns:p14="http://schemas.microsoft.com/office/powerpoint/2010/main" val="4841099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5D019-96A4-4D1E-AFB5-09D65C86E12D}"/>
              </a:ext>
            </a:extLst>
          </p:cNvPr>
          <p:cNvSpPr>
            <a:spLocks noGrp="1"/>
          </p:cNvSpPr>
          <p:nvPr>
            <p:ph type="title"/>
          </p:nvPr>
        </p:nvSpPr>
        <p:spPr/>
        <p:txBody>
          <a:bodyPr/>
          <a:lstStyle/>
          <a:p>
            <a:r>
              <a:rPr lang="en-US" dirty="0"/>
              <a:t>1. Theoretical Background – PE Format &amp; Disassembly</a:t>
            </a:r>
          </a:p>
        </p:txBody>
      </p:sp>
      <p:sp>
        <p:nvSpPr>
          <p:cNvPr id="3" name="Text Placeholder 2">
            <a:extLst>
              <a:ext uri="{FF2B5EF4-FFF2-40B4-BE49-F238E27FC236}">
                <a16:creationId xmlns:a16="http://schemas.microsoft.com/office/drawing/2014/main" id="{A5726603-7893-4AE0-9532-68058044B69D}"/>
              </a:ext>
            </a:extLst>
          </p:cNvPr>
          <p:cNvSpPr>
            <a:spLocks noGrp="1"/>
          </p:cNvSpPr>
          <p:nvPr>
            <p:ph type="body" sz="quarter" idx="13"/>
          </p:nvPr>
        </p:nvSpPr>
        <p:spPr/>
        <p:txBody>
          <a:bodyPr/>
          <a:lstStyle/>
          <a:p>
            <a:r>
              <a:rPr lang="en-US" b="1" dirty="0"/>
              <a:t>Sections:</a:t>
            </a:r>
          </a:p>
          <a:p>
            <a:pPr lvl="1">
              <a:lnSpc>
                <a:spcPct val="150000"/>
              </a:lnSpc>
            </a:pPr>
            <a:r>
              <a:rPr lang="en-US" dirty="0"/>
              <a:t>.text or .code: Contains executable machine instructions</a:t>
            </a:r>
          </a:p>
          <a:p>
            <a:pPr lvl="1">
              <a:lnSpc>
                <a:spcPct val="150000"/>
              </a:lnSpc>
            </a:pPr>
            <a:r>
              <a:rPr lang="en-US" dirty="0"/>
              <a:t>.data: Holds initialized global variables.</a:t>
            </a:r>
          </a:p>
          <a:p>
            <a:pPr lvl="1">
              <a:lnSpc>
                <a:spcPct val="150000"/>
              </a:lnSpc>
            </a:pPr>
            <a:r>
              <a:rPr lang="en-US" dirty="0"/>
              <a:t>.</a:t>
            </a:r>
            <a:r>
              <a:rPr lang="en-US" dirty="0" err="1"/>
              <a:t>rdata</a:t>
            </a:r>
            <a:r>
              <a:rPr lang="en-US" dirty="0"/>
              <a:t>: Contains read-only variables, debug directories, and the Import Address Table (IAT).</a:t>
            </a:r>
          </a:p>
          <a:p>
            <a:pPr lvl="1">
              <a:lnSpc>
                <a:spcPct val="150000"/>
              </a:lnSpc>
            </a:pPr>
            <a:r>
              <a:rPr lang="en-US" dirty="0"/>
              <a:t>.</a:t>
            </a:r>
            <a:r>
              <a:rPr lang="en-US" dirty="0" err="1"/>
              <a:t>rsrc</a:t>
            </a:r>
            <a:r>
              <a:rPr lang="en-US" dirty="0"/>
              <a:t>: Contains application resources (icons, menus, versions). </a:t>
            </a:r>
            <a:br>
              <a:rPr lang="en-US" dirty="0"/>
            </a:br>
            <a:endParaRPr lang="en-US" dirty="0"/>
          </a:p>
        </p:txBody>
      </p:sp>
      <p:sp>
        <p:nvSpPr>
          <p:cNvPr id="6" name="Slide Number Placeholder 5">
            <a:extLst>
              <a:ext uri="{FF2B5EF4-FFF2-40B4-BE49-F238E27FC236}">
                <a16:creationId xmlns:a16="http://schemas.microsoft.com/office/drawing/2014/main" id="{11E4677A-4F02-4478-B9B8-685D0B6264D3}"/>
              </a:ext>
            </a:extLst>
          </p:cNvPr>
          <p:cNvSpPr>
            <a:spLocks noGrp="1"/>
          </p:cNvSpPr>
          <p:nvPr>
            <p:ph type="sldNum" sz="quarter" idx="12"/>
          </p:nvPr>
        </p:nvSpPr>
        <p:spPr/>
        <p:txBody>
          <a:bodyPr/>
          <a:lstStyle/>
          <a:p>
            <a:fld id="{9EA0BE3B-158A-4EDF-80DC-E394A0D1600F}" type="slidenum">
              <a:rPr lang="en-US" smtClean="0"/>
              <a:pPr/>
              <a:t>10</a:t>
            </a:fld>
            <a:endParaRPr lang="en-US"/>
          </a:p>
        </p:txBody>
      </p:sp>
    </p:spTree>
    <p:extLst>
      <p:ext uri="{BB962C8B-B14F-4D97-AF65-F5344CB8AC3E}">
        <p14:creationId xmlns:p14="http://schemas.microsoft.com/office/powerpoint/2010/main" val="35059527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729C-9A96-6B44-95F4-D74B595749BC}"/>
              </a:ext>
            </a:extLst>
          </p:cNvPr>
          <p:cNvSpPr>
            <a:spLocks noGrp="1"/>
          </p:cNvSpPr>
          <p:nvPr>
            <p:ph type="title"/>
          </p:nvPr>
        </p:nvSpPr>
        <p:spPr/>
        <p:txBody>
          <a:bodyPr/>
          <a:lstStyle/>
          <a:p>
            <a:r>
              <a:rPr lang="en-US" dirty="0"/>
              <a:t>1. Theoretical Background – PE Format &amp; </a:t>
            </a:r>
            <a:r>
              <a:rPr lang="en-US" dirty="0" err="1"/>
              <a:t>Diassembly</a:t>
            </a:r>
            <a:endParaRPr lang="en-US" dirty="0"/>
          </a:p>
        </p:txBody>
      </p:sp>
      <p:sp>
        <p:nvSpPr>
          <p:cNvPr id="3" name="Text Placeholder 2">
            <a:extLst>
              <a:ext uri="{FF2B5EF4-FFF2-40B4-BE49-F238E27FC236}">
                <a16:creationId xmlns:a16="http://schemas.microsoft.com/office/drawing/2014/main" id="{F98FE022-261A-C3AA-547C-36B2B8858064}"/>
              </a:ext>
            </a:extLst>
          </p:cNvPr>
          <p:cNvSpPr>
            <a:spLocks noGrp="1"/>
          </p:cNvSpPr>
          <p:nvPr>
            <p:ph type="body" sz="quarter" idx="13"/>
          </p:nvPr>
        </p:nvSpPr>
        <p:spPr/>
        <p:txBody>
          <a:bodyPr/>
          <a:lstStyle/>
          <a:p>
            <a:r>
              <a:rPr lang="en-US" b="1" dirty="0"/>
              <a:t>Import Address Table (IAT): </a:t>
            </a:r>
            <a:r>
              <a:rPr lang="en-US" dirty="0"/>
              <a:t>Records the dynamic link libraries (DLLs) and functions imported from the system API (</a:t>
            </a:r>
            <a:r>
              <a:rPr lang="en-US" b="1" i="1" dirty="0" err="1"/>
              <a:t>LoadLibrary</a:t>
            </a:r>
            <a:r>
              <a:rPr lang="en-US" b="1" i="1" dirty="0"/>
              <a:t>, </a:t>
            </a:r>
            <a:r>
              <a:rPr lang="en-US" b="1" i="1" dirty="0" err="1"/>
              <a:t>GetProcAddress</a:t>
            </a:r>
            <a:r>
              <a:rPr lang="en-US" b="1" i="1" dirty="0"/>
              <a:t>, …</a:t>
            </a:r>
            <a:r>
              <a:rPr lang="en-US" dirty="0"/>
              <a:t>) </a:t>
            </a:r>
          </a:p>
          <a:p>
            <a:endParaRPr lang="en-US" dirty="0"/>
          </a:p>
          <a:p>
            <a:r>
              <a:rPr lang="en-US" b="1" dirty="0"/>
              <a:t>Disassembly: </a:t>
            </a:r>
            <a:r>
              <a:rPr lang="en-US" dirty="0"/>
              <a:t>Reversing raw binary bytes in </a:t>
            </a:r>
            <a:r>
              <a:rPr lang="en-US" b="1" i="1" dirty="0"/>
              <a:t>.text </a:t>
            </a:r>
            <a:r>
              <a:rPr lang="en-US" dirty="0"/>
              <a:t>into x86 assembly mnemonics (</a:t>
            </a:r>
            <a:r>
              <a:rPr lang="en-US" b="1" i="1" dirty="0"/>
              <a:t>mov, </a:t>
            </a:r>
            <a:r>
              <a:rPr lang="en-US" b="1" i="1" dirty="0" err="1"/>
              <a:t>xor</a:t>
            </a:r>
            <a:r>
              <a:rPr lang="en-US" b="1" i="1" dirty="0"/>
              <a:t>, </a:t>
            </a:r>
            <a:r>
              <a:rPr lang="en-US" b="1" i="1" dirty="0" err="1"/>
              <a:t>cmp</a:t>
            </a:r>
            <a:r>
              <a:rPr lang="en-US" b="1" i="1" dirty="0"/>
              <a:t>, etc</a:t>
            </a:r>
            <a:r>
              <a:rPr lang="en-US" i="1" dirty="0"/>
              <a:t>.</a:t>
            </a:r>
            <a:r>
              <a:rPr lang="en-US" dirty="0"/>
              <a:t>) for opcode analysis.</a:t>
            </a:r>
          </a:p>
        </p:txBody>
      </p:sp>
      <p:sp>
        <p:nvSpPr>
          <p:cNvPr id="4" name="Slide Number Placeholder 3">
            <a:extLst>
              <a:ext uri="{FF2B5EF4-FFF2-40B4-BE49-F238E27FC236}">
                <a16:creationId xmlns:a16="http://schemas.microsoft.com/office/drawing/2014/main" id="{976516D1-15BB-7903-B9BD-786D38176FE8}"/>
              </a:ext>
            </a:extLst>
          </p:cNvPr>
          <p:cNvSpPr>
            <a:spLocks noGrp="1"/>
          </p:cNvSpPr>
          <p:nvPr>
            <p:ph type="sldNum" sz="quarter" idx="12"/>
          </p:nvPr>
        </p:nvSpPr>
        <p:spPr/>
        <p:txBody>
          <a:bodyPr/>
          <a:lstStyle/>
          <a:p>
            <a:fld id="{9EA0BE3B-158A-4EDF-80DC-E394A0D1600F}" type="slidenum">
              <a:rPr lang="en-US" smtClean="0"/>
              <a:pPr/>
              <a:t>11</a:t>
            </a:fld>
            <a:endParaRPr lang="en-US"/>
          </a:p>
        </p:txBody>
      </p:sp>
    </p:spTree>
    <p:extLst>
      <p:ext uri="{BB962C8B-B14F-4D97-AF65-F5344CB8AC3E}">
        <p14:creationId xmlns:p14="http://schemas.microsoft.com/office/powerpoint/2010/main" val="39248372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FF5DA-5E37-6F6A-9DDD-8E33F1A93B0D}"/>
              </a:ext>
            </a:extLst>
          </p:cNvPr>
          <p:cNvSpPr>
            <a:spLocks noGrp="1"/>
          </p:cNvSpPr>
          <p:nvPr>
            <p:ph type="title"/>
          </p:nvPr>
        </p:nvSpPr>
        <p:spPr/>
        <p:txBody>
          <a:bodyPr/>
          <a:lstStyle/>
          <a:p>
            <a:r>
              <a:rPr lang="en-US" dirty="0"/>
              <a:t>1. Theoretical Background – Shannon Entropy</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FA9DFD68-31C2-1CCA-F346-0B50B0946FCB}"/>
                  </a:ext>
                </a:extLst>
              </p:cNvPr>
              <p:cNvSpPr>
                <a:spLocks noGrp="1"/>
              </p:cNvSpPr>
              <p:nvPr>
                <p:ph type="body" sz="quarter" idx="13"/>
              </p:nvPr>
            </p:nvSpPr>
            <p:spPr/>
            <p:txBody>
              <a:bodyPr/>
              <a:lstStyle/>
              <a:p>
                <a:r>
                  <a:rPr lang="en-US" sz="1800" dirty="0"/>
                  <a:t>For a discrete random variable </a:t>
                </a:r>
                <a:r>
                  <a:rPr lang="en-US" sz="1800" i="1" dirty="0"/>
                  <a:t>X </a:t>
                </a:r>
                <a:r>
                  <a:rPr lang="en-US" sz="1800" dirty="0"/>
                  <a:t>representing byte values (from 0x00 to 0xFF) in a binary file or section, the Shannon entropy </a:t>
                </a:r>
                <a:r>
                  <a:rPr lang="en-US" sz="1800" i="1" dirty="0"/>
                  <a:t>H</a:t>
                </a:r>
                <a:r>
                  <a:rPr lang="en-US" sz="1800" dirty="0"/>
                  <a:t>(</a:t>
                </a:r>
                <a:r>
                  <a:rPr lang="en-US" sz="1800" i="1" dirty="0"/>
                  <a:t>X</a:t>
                </a:r>
                <a:r>
                  <a:rPr lang="en-US" sz="1800" dirty="0"/>
                  <a:t>) is computed as: </a:t>
                </a:r>
                <a:br>
                  <a:rPr lang="en-US" sz="1800" dirty="0"/>
                </a:br>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𝐻</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e>
                      </m:d>
                      <m:r>
                        <a:rPr lang="en-US" sz="1800" b="0" i="1" smtClean="0">
                          <a:latin typeface="Cambria Math" panose="02040503050406030204" pitchFamily="18" charset="0"/>
                        </a:rPr>
                        <m:t>=−</m:t>
                      </m:r>
                      <m:nary>
                        <m:naryPr>
                          <m:chr m:val="∑"/>
                          <m:ctrlPr>
                            <a:rPr lang="en-US" sz="1800" b="0" i="1" smtClean="0">
                              <a:latin typeface="Cambria Math" panose="02040503050406030204" pitchFamily="18" charset="0"/>
                            </a:rPr>
                          </m:ctrlPr>
                        </m:naryPr>
                        <m:sub>
                          <m:r>
                            <m:rPr>
                              <m:brk m:alnAt="23"/>
                            </m:rPr>
                            <a:rPr lang="en-US" sz="1800" b="0" i="1" smtClean="0">
                              <a:latin typeface="Cambria Math" panose="02040503050406030204" pitchFamily="18" charset="0"/>
                            </a:rPr>
                            <m:t>𝑖</m:t>
                          </m:r>
                          <m:r>
                            <a:rPr lang="en-US" sz="1800" b="0" i="1" smtClean="0">
                              <a:latin typeface="Cambria Math" panose="02040503050406030204" pitchFamily="18" charset="0"/>
                            </a:rPr>
                            <m:t>=1</m:t>
                          </m:r>
                        </m:sub>
                        <m:sup>
                          <m:r>
                            <a:rPr lang="en-US" sz="1800" b="0" i="1" smtClean="0">
                              <a:latin typeface="Cambria Math" panose="02040503050406030204" pitchFamily="18" charset="0"/>
                            </a:rPr>
                            <m:t>𝑛</m:t>
                          </m:r>
                        </m:sup>
                        <m:e>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𝑖</m:t>
                                  </m:r>
                                </m:sub>
                              </m:sSub>
                            </m:e>
                          </m:d>
                          <m:r>
                            <a:rPr lang="en-US" sz="1800" b="0" i="1" smtClean="0">
                              <a:latin typeface="Cambria Math" panose="02040503050406030204" pitchFamily="18" charset="0"/>
                            </a:rPr>
                            <m:t>𝑙𝑜𝑔𝑃</m:t>
                          </m:r>
                        </m:e>
                      </m:nary>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𝑥</m:t>
                              </m:r>
                            </m:e>
                            <m:sub>
                              <m:r>
                                <a:rPr lang="en-US" sz="1800" i="1">
                                  <a:latin typeface="Cambria Math" panose="02040503050406030204" pitchFamily="18" charset="0"/>
                                </a:rPr>
                                <m:t>𝑖</m:t>
                              </m:r>
                            </m:sub>
                          </m:sSub>
                        </m:e>
                      </m:d>
                    </m:oMath>
                  </m:oMathPara>
                </a14:m>
                <a:endParaRPr lang="en-US" sz="1800" dirty="0"/>
              </a:p>
              <a:p>
                <a:pPr marL="0" indent="0">
                  <a:buNone/>
                </a:pPr>
                <a:endParaRPr lang="en-US" sz="1800" dirty="0"/>
              </a:p>
              <a:p>
                <a:pPr marL="0" indent="0">
                  <a:buNone/>
                </a:pPr>
                <a:r>
                  <a:rPr lang="en-US" sz="1800" dirty="0"/>
                  <a:t>While n = 256 possible bytes values, </a:t>
                </a:r>
                <a14:m>
                  <m:oMath xmlns:m="http://schemas.openxmlformats.org/officeDocument/2006/math">
                    <m:r>
                      <a:rPr lang="en-US" sz="1800" i="1">
                        <a:latin typeface="Cambria Math" panose="02040503050406030204" pitchFamily="18" charset="0"/>
                      </a:rPr>
                      <m:t>𝑃</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𝑥</m:t>
                            </m:r>
                          </m:e>
                          <m:sub>
                            <m:r>
                              <a:rPr lang="en-US" sz="1800" i="1">
                                <a:latin typeface="Cambria Math" panose="02040503050406030204" pitchFamily="18" charset="0"/>
                              </a:rPr>
                              <m:t>𝑖</m:t>
                            </m:r>
                          </m:sub>
                        </m:sSub>
                      </m:e>
                    </m:d>
                  </m:oMath>
                </a14:m>
                <a:r>
                  <a:rPr lang="en-US" sz="1800" dirty="0"/>
                  <a:t> is the empirical probability of occurrence of byte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𝑥</m:t>
                        </m:r>
                      </m:e>
                      <m:sub>
                        <m:r>
                          <a:rPr lang="en-US" sz="1800" i="1">
                            <a:latin typeface="Cambria Math" panose="02040503050406030204" pitchFamily="18" charset="0"/>
                          </a:rPr>
                          <m:t>𝑖</m:t>
                        </m:r>
                      </m:sub>
                    </m:sSub>
                  </m:oMath>
                </a14:m>
                <a:r>
                  <a:rPr lang="en-US" sz="1800" dirty="0"/>
                  <a:t> inside an analyzed block</a:t>
                </a:r>
              </a:p>
              <a:p>
                <a:pPr marL="0" indent="0">
                  <a:buNone/>
                </a:pPr>
                <a:endParaRPr lang="en-US" sz="1800" dirty="0"/>
              </a:p>
              <a:p>
                <a:r>
                  <a:rPr lang="en-US" sz="1800" b="1" dirty="0"/>
                  <a:t>Low entropy (0.0 – 5.0): </a:t>
                </a:r>
                <a:r>
                  <a:rPr lang="en-US" sz="1800" dirty="0"/>
                  <a:t>Highly structured, predictable data</a:t>
                </a:r>
              </a:p>
              <a:p>
                <a:r>
                  <a:rPr lang="en-US" sz="1800" b="1" dirty="0"/>
                  <a:t>Medium entropy (5.0 – 6.8): </a:t>
                </a:r>
                <a:r>
                  <a:rPr lang="en-US" sz="1800" dirty="0"/>
                  <a:t>Normal executable code or compiler output.</a:t>
                </a:r>
              </a:p>
              <a:p>
                <a:r>
                  <a:rPr lang="en-US" sz="1800" b="1" dirty="0"/>
                  <a:t>High entropy (7.0 – 8.0): </a:t>
                </a:r>
                <a:r>
                  <a:rPr lang="en-US" sz="1800" dirty="0"/>
                  <a:t>Indicates high randomness, approaching uniform distribution</a:t>
                </a:r>
              </a:p>
              <a:p>
                <a:pPr marL="0" indent="0">
                  <a:buNone/>
                </a:pPr>
                <a14:m>
                  <m:oMath xmlns:m="http://schemas.openxmlformats.org/officeDocument/2006/math">
                    <m:r>
                      <a:rPr lang="en-US" sz="1800" i="1" smtClean="0">
                        <a:latin typeface="Cambria Math" panose="02040503050406030204" pitchFamily="18" charset="0"/>
                        <a:ea typeface="Cambria Math" panose="02040503050406030204" pitchFamily="18" charset="0"/>
                      </a:rPr>
                      <m:t>→</m:t>
                    </m:r>
                  </m:oMath>
                </a14:m>
                <a:r>
                  <a:rPr lang="en-US" sz="1800" dirty="0"/>
                  <a:t> This is typical of encrypted data, compressed buﬀers, or packing payloads, since cryptography and compression algorithms aim to eliminate statistical patterns.</a:t>
                </a:r>
              </a:p>
            </p:txBody>
          </p:sp>
        </mc:Choice>
        <mc:Fallback xmlns="">
          <p:sp>
            <p:nvSpPr>
              <p:cNvPr id="3" name="Text Placeholder 2">
                <a:extLst>
                  <a:ext uri="{FF2B5EF4-FFF2-40B4-BE49-F238E27FC236}">
                    <a16:creationId xmlns:a16="http://schemas.microsoft.com/office/drawing/2014/main" id="{FA9DFD68-31C2-1CCA-F346-0B50B0946FCB}"/>
                  </a:ext>
                </a:extLst>
              </p:cNvPr>
              <p:cNvSpPr>
                <a:spLocks noGrp="1" noRot="1" noChangeAspect="1" noMove="1" noResize="1" noEditPoints="1" noAdjustHandles="1" noChangeArrowheads="1" noChangeShapeType="1" noTextEdit="1"/>
              </p:cNvSpPr>
              <p:nvPr>
                <p:ph type="body" sz="quarter" idx="13"/>
              </p:nvPr>
            </p:nvSpPr>
            <p:spPr>
              <a:blipFill>
                <a:blip r:embed="rId2"/>
                <a:stretch>
                  <a:fillRect l="-424" t="-1110" r="-74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88872C0-2431-2E3D-2408-4C9D20E4FAC4}"/>
              </a:ext>
            </a:extLst>
          </p:cNvPr>
          <p:cNvSpPr>
            <a:spLocks noGrp="1"/>
          </p:cNvSpPr>
          <p:nvPr>
            <p:ph type="sldNum" sz="quarter" idx="12"/>
          </p:nvPr>
        </p:nvSpPr>
        <p:spPr/>
        <p:txBody>
          <a:bodyPr/>
          <a:lstStyle/>
          <a:p>
            <a:fld id="{9EA0BE3B-158A-4EDF-80DC-E394A0D1600F}" type="slidenum">
              <a:rPr lang="en-US" smtClean="0"/>
              <a:pPr/>
              <a:t>12</a:t>
            </a:fld>
            <a:endParaRPr lang="en-US"/>
          </a:p>
        </p:txBody>
      </p:sp>
    </p:spTree>
    <p:extLst>
      <p:ext uri="{BB962C8B-B14F-4D97-AF65-F5344CB8AC3E}">
        <p14:creationId xmlns:p14="http://schemas.microsoft.com/office/powerpoint/2010/main" val="8514994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91D012-8495-546B-560E-88C44BC4BE44}"/>
              </a:ext>
            </a:extLst>
          </p:cNvPr>
          <p:cNvSpPr>
            <a:spLocks noGrp="1"/>
          </p:cNvSpPr>
          <p:nvPr>
            <p:ph type="title"/>
          </p:nvPr>
        </p:nvSpPr>
        <p:spPr/>
        <p:txBody>
          <a:bodyPr/>
          <a:lstStyle/>
          <a:p>
            <a:r>
              <a:rPr lang="en-US" dirty="0"/>
              <a:t>1. Theoretical Background – Packing &amp; Obfuscation</a:t>
            </a:r>
          </a:p>
        </p:txBody>
      </p:sp>
      <p:sp>
        <p:nvSpPr>
          <p:cNvPr id="3" name="Text Placeholder 2">
            <a:extLst>
              <a:ext uri="{FF2B5EF4-FFF2-40B4-BE49-F238E27FC236}">
                <a16:creationId xmlns:a16="http://schemas.microsoft.com/office/drawing/2014/main" id="{0EAE76CA-2ACE-5C6F-0B0C-25D419247EDD}"/>
              </a:ext>
            </a:extLst>
          </p:cNvPr>
          <p:cNvSpPr>
            <a:spLocks noGrp="1"/>
          </p:cNvSpPr>
          <p:nvPr>
            <p:ph type="body" sz="quarter" idx="13"/>
          </p:nvPr>
        </p:nvSpPr>
        <p:spPr/>
        <p:txBody>
          <a:bodyPr/>
          <a:lstStyle/>
          <a:p>
            <a:r>
              <a:rPr lang="en-US" sz="2000" b="1" dirty="0"/>
              <a:t>W^X Permission Violation: </a:t>
            </a:r>
            <a:r>
              <a:rPr lang="en-US" sz="2000" dirty="0"/>
              <a:t>Sections that are simultaneously Writable and Executable. Standard compilers separate these, but packers break this rule to decrypt code directly into memory.</a:t>
            </a:r>
          </a:p>
          <a:p>
            <a:endParaRPr lang="en-US" sz="2000" dirty="0"/>
          </a:p>
          <a:p>
            <a:r>
              <a:rPr lang="en-US" sz="2000" b="1" dirty="0"/>
              <a:t>Virtual vs. Raw Size Mismatch: </a:t>
            </a:r>
            <a:r>
              <a:rPr lang="en-US" sz="2000" dirty="0"/>
              <a:t>When the virtual size of a section in memory is significantly larger than its size on disk. This points to an expansion container for an unpacked payload.</a:t>
            </a:r>
          </a:p>
          <a:p>
            <a:endParaRPr lang="en-US" sz="2000" dirty="0"/>
          </a:p>
          <a:p>
            <a:r>
              <a:rPr lang="en-US" sz="2000" b="1" dirty="0"/>
              <a:t>Low/Zero Import Counts: </a:t>
            </a:r>
            <a:r>
              <a:rPr lang="en-US" sz="2000" dirty="0"/>
              <a:t>Packed files often hide their IAT, importing only baseline functions like </a:t>
            </a:r>
            <a:r>
              <a:rPr lang="en-US" sz="2000" b="1" i="1" dirty="0" err="1"/>
              <a:t>LoadLibraryA</a:t>
            </a:r>
            <a:r>
              <a:rPr lang="en-US" sz="2000" dirty="0"/>
              <a:t> and </a:t>
            </a:r>
            <a:r>
              <a:rPr lang="en-US" sz="2000" b="1" i="1" dirty="0" err="1"/>
              <a:t>GetProcAddress</a:t>
            </a:r>
            <a:r>
              <a:rPr lang="en-US" sz="2000" b="1" i="1" dirty="0"/>
              <a:t> </a:t>
            </a:r>
            <a:r>
              <a:rPr lang="en-US" sz="2000" dirty="0"/>
              <a:t>to dynamically load APIs at runtime.</a:t>
            </a:r>
          </a:p>
          <a:p>
            <a:endParaRPr lang="en-US" sz="2000" dirty="0"/>
          </a:p>
          <a:p>
            <a:r>
              <a:rPr lang="en-US" sz="2000" b="1" dirty="0"/>
              <a:t>Suspicious Section Names: </a:t>
            </a:r>
            <a:r>
              <a:rPr lang="en-US" sz="2000" dirty="0"/>
              <a:t>Section headers named </a:t>
            </a:r>
            <a:r>
              <a:rPr lang="en-US" sz="2000" b="1" i="1" dirty="0"/>
              <a:t>.upx0, .</a:t>
            </a:r>
            <a:r>
              <a:rPr lang="en-US" sz="2000" b="1" i="1" dirty="0" err="1"/>
              <a:t>aspack</a:t>
            </a:r>
            <a:r>
              <a:rPr lang="en-US" sz="2000" b="1" i="1" dirty="0"/>
              <a:t>, </a:t>
            </a:r>
            <a:r>
              <a:rPr lang="en-US" sz="2000" dirty="0"/>
              <a:t>or containing unexpected characters like </a:t>
            </a:r>
            <a:r>
              <a:rPr lang="en-US" sz="2000" b="1" dirty="0"/>
              <a:t>/.</a:t>
            </a:r>
          </a:p>
        </p:txBody>
      </p:sp>
      <p:sp>
        <p:nvSpPr>
          <p:cNvPr id="4" name="Slide Number Placeholder 3">
            <a:extLst>
              <a:ext uri="{FF2B5EF4-FFF2-40B4-BE49-F238E27FC236}">
                <a16:creationId xmlns:a16="http://schemas.microsoft.com/office/drawing/2014/main" id="{19E2AB39-8698-8803-5FD3-E54F02B844A4}"/>
              </a:ext>
            </a:extLst>
          </p:cNvPr>
          <p:cNvSpPr>
            <a:spLocks noGrp="1"/>
          </p:cNvSpPr>
          <p:nvPr>
            <p:ph type="sldNum" sz="quarter" idx="12"/>
          </p:nvPr>
        </p:nvSpPr>
        <p:spPr/>
        <p:txBody>
          <a:bodyPr/>
          <a:lstStyle/>
          <a:p>
            <a:fld id="{9EA0BE3B-158A-4EDF-80DC-E394A0D1600F}" type="slidenum">
              <a:rPr lang="en-US" smtClean="0"/>
              <a:pPr/>
              <a:t>13</a:t>
            </a:fld>
            <a:endParaRPr lang="en-US"/>
          </a:p>
        </p:txBody>
      </p:sp>
    </p:spTree>
    <p:extLst>
      <p:ext uri="{BB962C8B-B14F-4D97-AF65-F5344CB8AC3E}">
        <p14:creationId xmlns:p14="http://schemas.microsoft.com/office/powerpoint/2010/main" val="2895244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D62DE-6D79-1BFB-9039-653D0AC87B6E}"/>
              </a:ext>
            </a:extLst>
          </p:cNvPr>
          <p:cNvSpPr>
            <a:spLocks noGrp="1"/>
          </p:cNvSpPr>
          <p:nvPr>
            <p:ph type="title"/>
          </p:nvPr>
        </p:nvSpPr>
        <p:spPr/>
        <p:txBody>
          <a:bodyPr/>
          <a:lstStyle/>
          <a:p>
            <a:r>
              <a:rPr lang="en-US" dirty="0"/>
              <a:t>1. Theoretical Background – Behavioral FSM: API Chain Tracking</a:t>
            </a:r>
            <a:br>
              <a:rPr lang="en-US" b="0" dirty="0"/>
            </a:br>
            <a:endParaRPr lang="en-US" dirty="0"/>
          </a:p>
        </p:txBody>
      </p:sp>
      <p:sp>
        <p:nvSpPr>
          <p:cNvPr id="4" name="Slide Number Placeholder 3">
            <a:extLst>
              <a:ext uri="{FF2B5EF4-FFF2-40B4-BE49-F238E27FC236}">
                <a16:creationId xmlns:a16="http://schemas.microsoft.com/office/drawing/2014/main" id="{5C86D120-CA2D-2C46-CF16-097151C1EDD7}"/>
              </a:ext>
            </a:extLst>
          </p:cNvPr>
          <p:cNvSpPr>
            <a:spLocks noGrp="1"/>
          </p:cNvSpPr>
          <p:nvPr>
            <p:ph type="sldNum" sz="quarter" idx="12"/>
          </p:nvPr>
        </p:nvSpPr>
        <p:spPr/>
        <p:txBody>
          <a:bodyPr/>
          <a:lstStyle/>
          <a:p>
            <a:fld id="{9EA0BE3B-158A-4EDF-80DC-E394A0D1600F}" type="slidenum">
              <a:rPr lang="en-US" smtClean="0"/>
              <a:pPr/>
              <a:t>14</a:t>
            </a:fld>
            <a:endParaRPr lang="en-US"/>
          </a:p>
        </p:txBody>
      </p:sp>
      <p:pic>
        <p:nvPicPr>
          <p:cNvPr id="6" name="Picture 5">
            <a:extLst>
              <a:ext uri="{FF2B5EF4-FFF2-40B4-BE49-F238E27FC236}">
                <a16:creationId xmlns:a16="http://schemas.microsoft.com/office/drawing/2014/main" id="{D9622096-B178-83B2-1018-71D348C72504}"/>
              </a:ext>
            </a:extLst>
          </p:cNvPr>
          <p:cNvPicPr>
            <a:picLocks noChangeAspect="1"/>
          </p:cNvPicPr>
          <p:nvPr/>
        </p:nvPicPr>
        <p:blipFill>
          <a:blip r:embed="rId2"/>
          <a:stretch>
            <a:fillRect/>
          </a:stretch>
        </p:blipFill>
        <p:spPr>
          <a:xfrm>
            <a:off x="430343" y="937738"/>
            <a:ext cx="5665657" cy="5166040"/>
          </a:xfrm>
          <a:prstGeom prst="rect">
            <a:avLst/>
          </a:prstGeom>
        </p:spPr>
      </p:pic>
      <p:sp>
        <p:nvSpPr>
          <p:cNvPr id="7" name="TextBox 6">
            <a:extLst>
              <a:ext uri="{FF2B5EF4-FFF2-40B4-BE49-F238E27FC236}">
                <a16:creationId xmlns:a16="http://schemas.microsoft.com/office/drawing/2014/main" id="{B52DA0CC-24ED-DBEE-674A-2FC07C03BE42}"/>
              </a:ext>
            </a:extLst>
          </p:cNvPr>
          <p:cNvSpPr txBox="1"/>
          <p:nvPr/>
        </p:nvSpPr>
        <p:spPr>
          <a:xfrm>
            <a:off x="6512767" y="937738"/>
            <a:ext cx="3946849" cy="3686394"/>
          </a:xfrm>
          <a:prstGeom prst="rect">
            <a:avLst/>
          </a:prstGeom>
          <a:noFill/>
        </p:spPr>
        <p:txBody>
          <a:bodyPr wrap="square" rtlCol="0">
            <a:spAutoFit/>
          </a:bodyPr>
          <a:lstStyle/>
          <a:p>
            <a:pPr>
              <a:lnSpc>
                <a:spcPct val="200000"/>
              </a:lnSpc>
            </a:pPr>
            <a:r>
              <a:rPr lang="en-US" sz="2000" b="1" dirty="0">
                <a:latin typeface="Lato" panose="020F0502020204030203" pitchFamily="34" charset="0"/>
                <a:ea typeface="Lato" panose="020F0502020204030203" pitchFamily="34" charset="0"/>
                <a:cs typeface="Lato" panose="020F0502020204030203" pitchFamily="34" charset="0"/>
              </a:rPr>
              <a:t>Score Impact</a:t>
            </a:r>
            <a:r>
              <a:rPr lang="en-US" sz="2000" dirty="0">
                <a:latin typeface="Lato" panose="020F0502020204030203" pitchFamily="34" charset="0"/>
                <a:ea typeface="Lato" panose="020F0502020204030203" pitchFamily="34" charset="0"/>
                <a:cs typeface="Lato" panose="020F0502020204030203" pitchFamily="34" charset="0"/>
              </a:rPr>
              <a:t>:</a:t>
            </a:r>
          </a:p>
          <a:p>
            <a:pPr lvl="1">
              <a:lnSpc>
                <a:spcPct val="200000"/>
              </a:lnSpc>
            </a:pPr>
            <a:r>
              <a:rPr lang="en-US" sz="2000" dirty="0">
                <a:latin typeface="Lato" panose="020F0502020204030203" pitchFamily="34" charset="0"/>
                <a:ea typeface="Lato" panose="020F0502020204030203" pitchFamily="34" charset="0"/>
                <a:cs typeface="Lato" panose="020F0502020204030203" pitchFamily="34" charset="0"/>
              </a:rPr>
              <a:t>CLEAN / EVASIVE: +0 pts</a:t>
            </a:r>
          </a:p>
          <a:p>
            <a:pPr lvl="1">
              <a:lnSpc>
                <a:spcPct val="200000"/>
              </a:lnSpc>
            </a:pPr>
            <a:r>
              <a:rPr lang="en-US" sz="2000" dirty="0">
                <a:latin typeface="Lato" panose="020F0502020204030203" pitchFamily="34" charset="0"/>
                <a:ea typeface="Lato" panose="020F0502020204030203" pitchFamily="34" charset="0"/>
                <a:cs typeface="Lato" panose="020F0502020204030203" pitchFamily="34" charset="0"/>
              </a:rPr>
              <a:t>SURVEY: +5 pts</a:t>
            </a:r>
          </a:p>
          <a:p>
            <a:pPr lvl="1">
              <a:lnSpc>
                <a:spcPct val="200000"/>
              </a:lnSpc>
            </a:pPr>
            <a:r>
              <a:rPr lang="en-US" sz="2000" dirty="0">
                <a:latin typeface="Lato" panose="020F0502020204030203" pitchFamily="34" charset="0"/>
                <a:ea typeface="Lato" panose="020F0502020204030203" pitchFamily="34" charset="0"/>
                <a:cs typeface="Lato" panose="020F0502020204030203" pitchFamily="34" charset="0"/>
              </a:rPr>
              <a:t>INJECTING: +15 pts</a:t>
            </a:r>
          </a:p>
          <a:p>
            <a:pPr lvl="1">
              <a:lnSpc>
                <a:spcPct val="200000"/>
              </a:lnSpc>
            </a:pPr>
            <a:r>
              <a:rPr lang="en-US" sz="2000" dirty="0">
                <a:latin typeface="Lato" panose="020F0502020204030203" pitchFamily="34" charset="0"/>
                <a:ea typeface="Lato" panose="020F0502020204030203" pitchFamily="34" charset="0"/>
                <a:cs typeface="Lato" panose="020F0502020204030203" pitchFamily="34" charset="0"/>
              </a:rPr>
              <a:t>MALICIOUS: +35 pts</a:t>
            </a:r>
          </a:p>
          <a:p>
            <a:pPr>
              <a:lnSpc>
                <a:spcPct val="200000"/>
              </a:lnSpc>
            </a:pPr>
            <a:endParaRPr lang="en-US" sz="2000" dirty="0">
              <a:latin typeface="Lato" panose="020F0502020204030203" pitchFamily="34" charset="0"/>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605183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E04E6-0029-5EC1-0A1C-0417D97E209F}"/>
              </a:ext>
            </a:extLst>
          </p:cNvPr>
          <p:cNvSpPr>
            <a:spLocks noGrp="1"/>
          </p:cNvSpPr>
          <p:nvPr>
            <p:ph type="title"/>
          </p:nvPr>
        </p:nvSpPr>
        <p:spPr/>
        <p:txBody>
          <a:bodyPr/>
          <a:lstStyle/>
          <a:p>
            <a:r>
              <a:rPr lang="en-US" dirty="0"/>
              <a:t>1. Theoretical Background – </a:t>
            </a:r>
            <a:r>
              <a:rPr lang="en-US" b="0" dirty="0"/>
              <a:t> </a:t>
            </a:r>
            <a:r>
              <a:rPr lang="en-US" dirty="0"/>
              <a:t>Decryption Loop FSM</a:t>
            </a:r>
            <a:br>
              <a:rPr lang="en-US" b="0" dirty="0"/>
            </a:br>
            <a:br>
              <a:rPr lang="en-US" b="0" dirty="0"/>
            </a:br>
            <a:endParaRPr lang="en-US" dirty="0"/>
          </a:p>
        </p:txBody>
      </p:sp>
      <p:sp>
        <p:nvSpPr>
          <p:cNvPr id="3" name="Text Placeholder 2">
            <a:extLst>
              <a:ext uri="{FF2B5EF4-FFF2-40B4-BE49-F238E27FC236}">
                <a16:creationId xmlns:a16="http://schemas.microsoft.com/office/drawing/2014/main" id="{9F85964F-A421-5290-A43F-7936AEF3445B}"/>
              </a:ext>
            </a:extLst>
          </p:cNvPr>
          <p:cNvSpPr>
            <a:spLocks noGrp="1"/>
          </p:cNvSpPr>
          <p:nvPr>
            <p:ph type="body" sz="quarter" idx="13"/>
          </p:nvPr>
        </p:nvSpPr>
        <p:spPr/>
        <p:txBody>
          <a:bodyPr/>
          <a:lstStyle/>
          <a:p>
            <a:r>
              <a:rPr lang="en-US" sz="2400" b="1" dirty="0"/>
              <a:t>State 1: START</a:t>
            </a:r>
            <a:r>
              <a:rPr lang="en-US" sz="2400" dirty="0"/>
              <a:t> → Scans disassembled assembly opcodes. If a decryption operation </a:t>
            </a:r>
            <a:r>
              <a:rPr lang="en-US" sz="2400" i="1" dirty="0"/>
              <a:t>(</a:t>
            </a:r>
            <a:r>
              <a:rPr lang="en-US" sz="2400" i="1" dirty="0" err="1"/>
              <a:t>xor</a:t>
            </a:r>
            <a:r>
              <a:rPr lang="en-US" sz="2400" i="1" dirty="0"/>
              <a:t>, </a:t>
            </a:r>
            <a:r>
              <a:rPr lang="en-US" sz="2400" i="1" dirty="0" err="1"/>
              <a:t>rol</a:t>
            </a:r>
            <a:r>
              <a:rPr lang="en-US" sz="2400" i="1" dirty="0"/>
              <a:t>, </a:t>
            </a:r>
            <a:r>
              <a:rPr lang="en-US" sz="2400" i="1" dirty="0" err="1"/>
              <a:t>ror</a:t>
            </a:r>
            <a:r>
              <a:rPr lang="en-US" sz="2400" i="1" dirty="0"/>
              <a:t>) </a:t>
            </a:r>
            <a:r>
              <a:rPr lang="en-US" sz="2400" dirty="0"/>
              <a:t>is detected, transition to </a:t>
            </a:r>
            <a:r>
              <a:rPr lang="en-US" sz="2400" b="1" dirty="0"/>
              <a:t>XOR_FOUND</a:t>
            </a:r>
            <a:r>
              <a:rPr lang="en-US" sz="2400" dirty="0"/>
              <a:t>.</a:t>
            </a:r>
          </a:p>
          <a:p>
            <a:endParaRPr lang="en-US" sz="2400" dirty="0"/>
          </a:p>
          <a:p>
            <a:r>
              <a:rPr lang="en-US" sz="2400" b="1" dirty="0"/>
              <a:t>State 2: XOR_FOUND</a:t>
            </a:r>
            <a:r>
              <a:rPr lang="en-US" sz="2400" dirty="0"/>
              <a:t> → If the subsequent instruction updates loop pointers </a:t>
            </a:r>
            <a:r>
              <a:rPr lang="en-US" sz="2400" i="1" dirty="0"/>
              <a:t>(</a:t>
            </a:r>
            <a:r>
              <a:rPr lang="en-US" sz="2400" i="1" dirty="0" err="1"/>
              <a:t>cmp</a:t>
            </a:r>
            <a:r>
              <a:rPr lang="en-US" sz="2400" i="1" dirty="0"/>
              <a:t>, test, dec, </a:t>
            </a:r>
            <a:r>
              <a:rPr lang="en-US" sz="2400" i="1" dirty="0" err="1"/>
              <a:t>inc</a:t>
            </a:r>
            <a:r>
              <a:rPr lang="en-US" sz="2400" i="1" dirty="0"/>
              <a:t>, add, sub), </a:t>
            </a:r>
            <a:r>
              <a:rPr lang="en-US" sz="2400" dirty="0"/>
              <a:t>transition to </a:t>
            </a:r>
            <a:r>
              <a:rPr lang="en-US" sz="2400" b="1" dirty="0"/>
              <a:t>LOOP_FOUND</a:t>
            </a:r>
            <a:r>
              <a:rPr lang="en-US" sz="2400" dirty="0"/>
              <a:t>. Otherwise, reset.</a:t>
            </a:r>
          </a:p>
          <a:p>
            <a:endParaRPr lang="en-US" sz="2400" dirty="0"/>
          </a:p>
          <a:p>
            <a:r>
              <a:rPr lang="en-US" sz="2400" b="1" dirty="0"/>
              <a:t>State 3: LOOP_FOUND</a:t>
            </a:r>
            <a:r>
              <a:rPr lang="en-US" sz="2400" dirty="0"/>
              <a:t> → If the next instruction is a conditional jump or loop back </a:t>
            </a:r>
            <a:r>
              <a:rPr lang="en-US" sz="2400" i="1" dirty="0"/>
              <a:t>(</a:t>
            </a:r>
            <a:r>
              <a:rPr lang="en-US" sz="2400" i="1" dirty="0" err="1"/>
              <a:t>jnz</a:t>
            </a:r>
            <a:r>
              <a:rPr lang="en-US" sz="2400" i="1" dirty="0"/>
              <a:t>, </a:t>
            </a:r>
            <a:r>
              <a:rPr lang="en-US" sz="2400" i="1" dirty="0" err="1"/>
              <a:t>jne</a:t>
            </a:r>
            <a:r>
              <a:rPr lang="en-US" sz="2400" i="1" dirty="0"/>
              <a:t>, loop, </a:t>
            </a:r>
            <a:r>
              <a:rPr lang="en-US" sz="2400" i="1" dirty="0" err="1"/>
              <a:t>jmp</a:t>
            </a:r>
            <a:r>
              <a:rPr lang="en-US" sz="2400" i="1" dirty="0"/>
              <a:t>), </a:t>
            </a:r>
            <a:r>
              <a:rPr lang="en-US" sz="2400" dirty="0"/>
              <a:t>transition to </a:t>
            </a:r>
            <a:r>
              <a:rPr lang="en-US" sz="2400" b="1" dirty="0"/>
              <a:t>DECRYPTOR</a:t>
            </a:r>
            <a:r>
              <a:rPr lang="en-US" sz="2400" dirty="0"/>
              <a:t>. Otherwise, reset.</a:t>
            </a:r>
          </a:p>
          <a:p>
            <a:endParaRPr lang="en-US" sz="2400" dirty="0"/>
          </a:p>
          <a:p>
            <a:r>
              <a:rPr lang="en-US" sz="2400" b="1" dirty="0"/>
              <a:t>Result: </a:t>
            </a:r>
            <a:r>
              <a:rPr lang="en-US" sz="2400" dirty="0"/>
              <a:t>Reaching the </a:t>
            </a:r>
            <a:r>
              <a:rPr lang="en-US" sz="2400" b="1" dirty="0"/>
              <a:t>DECRYPTOR</a:t>
            </a:r>
            <a:r>
              <a:rPr lang="en-US" sz="2400" dirty="0"/>
              <a:t> state signals a decryption stub, adding </a:t>
            </a:r>
            <a:r>
              <a:rPr lang="en-US" sz="2400" b="1" dirty="0"/>
              <a:t>+25 </a:t>
            </a:r>
            <a:r>
              <a:rPr lang="en-US" sz="2400" dirty="0"/>
              <a:t>points to the heuristic score.</a:t>
            </a:r>
          </a:p>
          <a:p>
            <a:endParaRPr lang="en-US" sz="2400" dirty="0"/>
          </a:p>
          <a:p>
            <a:endParaRPr lang="en-US" dirty="0"/>
          </a:p>
        </p:txBody>
      </p:sp>
      <p:sp>
        <p:nvSpPr>
          <p:cNvPr id="4" name="Slide Number Placeholder 3">
            <a:extLst>
              <a:ext uri="{FF2B5EF4-FFF2-40B4-BE49-F238E27FC236}">
                <a16:creationId xmlns:a16="http://schemas.microsoft.com/office/drawing/2014/main" id="{C7CC99A9-6E81-A3FC-81FA-09997E78991E}"/>
              </a:ext>
            </a:extLst>
          </p:cNvPr>
          <p:cNvSpPr>
            <a:spLocks noGrp="1"/>
          </p:cNvSpPr>
          <p:nvPr>
            <p:ph type="sldNum" sz="quarter" idx="12"/>
          </p:nvPr>
        </p:nvSpPr>
        <p:spPr/>
        <p:txBody>
          <a:bodyPr/>
          <a:lstStyle/>
          <a:p>
            <a:fld id="{9EA0BE3B-158A-4EDF-80DC-E394A0D1600F}" type="slidenum">
              <a:rPr lang="en-US" smtClean="0"/>
              <a:pPr/>
              <a:t>15</a:t>
            </a:fld>
            <a:endParaRPr lang="en-US"/>
          </a:p>
        </p:txBody>
      </p:sp>
    </p:spTree>
    <p:extLst>
      <p:ext uri="{BB962C8B-B14F-4D97-AF65-F5344CB8AC3E}">
        <p14:creationId xmlns:p14="http://schemas.microsoft.com/office/powerpoint/2010/main" val="13621601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96699-4573-3239-A1C7-16B50E29780B}"/>
              </a:ext>
            </a:extLst>
          </p:cNvPr>
          <p:cNvSpPr>
            <a:spLocks noGrp="1"/>
          </p:cNvSpPr>
          <p:nvPr>
            <p:ph type="title"/>
          </p:nvPr>
        </p:nvSpPr>
        <p:spPr/>
        <p:txBody>
          <a:bodyPr/>
          <a:lstStyle/>
          <a:p>
            <a:r>
              <a:rPr lang="en-US" dirty="0"/>
              <a:t>1. Theoretical Background –  Weighted Heuristic Scoring Model</a:t>
            </a:r>
            <a:br>
              <a:rPr lang="en-US" dirty="0"/>
            </a:br>
            <a:endParaRPr lang="en-US" dirty="0"/>
          </a:p>
        </p:txBody>
      </p:sp>
      <p:sp>
        <p:nvSpPr>
          <p:cNvPr id="4" name="Slide Number Placeholder 3">
            <a:extLst>
              <a:ext uri="{FF2B5EF4-FFF2-40B4-BE49-F238E27FC236}">
                <a16:creationId xmlns:a16="http://schemas.microsoft.com/office/drawing/2014/main" id="{FA751DD3-568B-962B-412E-6C8120A7E7D7}"/>
              </a:ext>
            </a:extLst>
          </p:cNvPr>
          <p:cNvSpPr>
            <a:spLocks noGrp="1"/>
          </p:cNvSpPr>
          <p:nvPr>
            <p:ph type="sldNum" sz="quarter" idx="12"/>
          </p:nvPr>
        </p:nvSpPr>
        <p:spPr/>
        <p:txBody>
          <a:bodyPr/>
          <a:lstStyle/>
          <a:p>
            <a:fld id="{9EA0BE3B-158A-4EDF-80DC-E394A0D1600F}" type="slidenum">
              <a:rPr lang="en-US" smtClean="0"/>
              <a:pPr/>
              <a:t>16</a:t>
            </a:fld>
            <a:endParaRPr lang="en-US"/>
          </a:p>
        </p:txBody>
      </p:sp>
      <p:pic>
        <p:nvPicPr>
          <p:cNvPr id="6" name="Picture 5">
            <a:extLst>
              <a:ext uri="{FF2B5EF4-FFF2-40B4-BE49-F238E27FC236}">
                <a16:creationId xmlns:a16="http://schemas.microsoft.com/office/drawing/2014/main" id="{F52FAAB5-29C8-5331-DDBF-22F16E894E29}"/>
              </a:ext>
            </a:extLst>
          </p:cNvPr>
          <p:cNvPicPr>
            <a:picLocks noChangeAspect="1"/>
          </p:cNvPicPr>
          <p:nvPr/>
        </p:nvPicPr>
        <p:blipFill>
          <a:blip r:embed="rId2"/>
          <a:stretch>
            <a:fillRect/>
          </a:stretch>
        </p:blipFill>
        <p:spPr>
          <a:xfrm>
            <a:off x="651183" y="834538"/>
            <a:ext cx="6779166" cy="5519605"/>
          </a:xfrm>
          <a:prstGeom prst="rect">
            <a:avLst/>
          </a:prstGeom>
        </p:spPr>
      </p:pic>
      <p:graphicFrame>
        <p:nvGraphicFramePr>
          <p:cNvPr id="10" name="Table 9">
            <a:extLst>
              <a:ext uri="{FF2B5EF4-FFF2-40B4-BE49-F238E27FC236}">
                <a16:creationId xmlns:a16="http://schemas.microsoft.com/office/drawing/2014/main" id="{EC83D800-4A4E-405A-8AC0-38B9A424E907}"/>
              </a:ext>
            </a:extLst>
          </p:cNvPr>
          <p:cNvGraphicFramePr>
            <a:graphicFrameLocks noGrp="1"/>
          </p:cNvGraphicFramePr>
          <p:nvPr>
            <p:extLst>
              <p:ext uri="{D42A27DB-BD31-4B8C-83A1-F6EECF244321}">
                <p14:modId xmlns:p14="http://schemas.microsoft.com/office/powerpoint/2010/main" val="442680212"/>
              </p:ext>
            </p:extLst>
          </p:nvPr>
        </p:nvGraphicFramePr>
        <p:xfrm>
          <a:off x="7712287" y="1044061"/>
          <a:ext cx="4064000" cy="2143760"/>
        </p:xfrm>
        <a:graphic>
          <a:graphicData uri="http://schemas.openxmlformats.org/drawingml/2006/table">
            <a:tbl>
              <a:tblPr firstRow="1" bandRow="1"/>
              <a:tblGrid>
                <a:gridCol w="2032000">
                  <a:extLst>
                    <a:ext uri="{9D8B030D-6E8A-4147-A177-3AD203B41FA5}">
                      <a16:colId xmlns:a16="http://schemas.microsoft.com/office/drawing/2014/main" val="2352049304"/>
                    </a:ext>
                  </a:extLst>
                </a:gridCol>
                <a:gridCol w="2032000">
                  <a:extLst>
                    <a:ext uri="{9D8B030D-6E8A-4147-A177-3AD203B41FA5}">
                      <a16:colId xmlns:a16="http://schemas.microsoft.com/office/drawing/2014/main" val="3579860885"/>
                    </a:ext>
                  </a:extLst>
                </a:gridCol>
              </a:tblGrid>
              <a:tr h="370840">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effectLst/>
                          <a:latin typeface="Lato" panose="020F0502020204030203" pitchFamily="34" charset="0"/>
                          <a:ea typeface="Lato" panose="020F0502020204030203" pitchFamily="34" charset="0"/>
                          <a:cs typeface="Lato" panose="020F0502020204030203" pitchFamily="34" charset="0"/>
                        </a:rPr>
                        <a:t>Dynamic Discounts (FP Mitigation):</a:t>
                      </a:r>
                      <a:endParaRPr lang="en-US" b="1" dirty="0">
                        <a:solidFill>
                          <a:schemeClr val="bg1"/>
                        </a:solidFill>
                        <a:latin typeface="Lato" panose="020F0502020204030203" pitchFamily="34" charset="0"/>
                        <a:ea typeface="Lato" panose="020F0502020204030203" pitchFamily="34" charset="0"/>
                        <a:cs typeface="Lato" panose="020F0502020204030203" pitchFamily="34" charset="0"/>
                      </a:endParaRPr>
                    </a:p>
                  </a:txBody>
                  <a:tcPr/>
                </a:tc>
                <a:tc hMerge="1">
                  <a:txBody>
                    <a:bodyPr/>
                    <a:lstStyle/>
                    <a:p>
                      <a:endParaRPr lang="en-US" dirty="0"/>
                    </a:p>
                  </a:txBody>
                  <a:tcPr/>
                </a:tc>
                <a:extLst>
                  <a:ext uri="{0D108BD9-81ED-4DB2-BD59-A6C34878D82A}">
                    <a16:rowId xmlns:a16="http://schemas.microsoft.com/office/drawing/2014/main" val="3913786173"/>
                  </a:ext>
                </a:extLst>
              </a:tr>
              <a:tr h="370840">
                <a:tc>
                  <a:txBody>
                    <a:bodyPr/>
                    <a:lstStyle/>
                    <a:p>
                      <a:pPr algn="ctr"/>
                      <a:r>
                        <a:rPr lang="en-US" sz="1600" b="0" i="0" kern="1200" dirty="0">
                          <a:solidFill>
                            <a:schemeClr val="tx1"/>
                          </a:solidFill>
                          <a:effectLst/>
                          <a:latin typeface="Lato" panose="020F0502020204030203" pitchFamily="34" charset="0"/>
                          <a:ea typeface="Lato" panose="020F0502020204030203" pitchFamily="34" charset="0"/>
                          <a:cs typeface="Lato" panose="020F0502020204030203" pitchFamily="34" charset="0"/>
                        </a:rPr>
                        <a:t>Export count &gt; 50</a:t>
                      </a:r>
                      <a:endParaRPr lang="en-US" sz="1600" dirty="0">
                        <a:latin typeface="Lato" panose="020F0502020204030203" pitchFamily="34" charset="0"/>
                        <a:ea typeface="Lato" panose="020F0502020204030203" pitchFamily="34" charset="0"/>
                        <a:cs typeface="Lato" panose="020F0502020204030203" pitchFamily="34" charset="0"/>
                      </a:endParaRPr>
                    </a:p>
                  </a:txBody>
                  <a:tcPr anchor="ctr"/>
                </a:tc>
                <a:tc>
                  <a:txBody>
                    <a:bodyPr/>
                    <a:lstStyle/>
                    <a:p>
                      <a:pPr algn="ctr"/>
                      <a:r>
                        <a:rPr lang="en-US" sz="1600" dirty="0">
                          <a:latin typeface="Lato" panose="020F0502020204030203" pitchFamily="34" charset="0"/>
                          <a:ea typeface="Lato" panose="020F0502020204030203" pitchFamily="34" charset="0"/>
                          <a:cs typeface="Lato" panose="020F0502020204030203" pitchFamily="34" charset="0"/>
                        </a:rPr>
                        <a:t>-35</a:t>
                      </a:r>
                    </a:p>
                  </a:txBody>
                  <a:tcPr anchor="ctr"/>
                </a:tc>
                <a:extLst>
                  <a:ext uri="{0D108BD9-81ED-4DB2-BD59-A6C34878D82A}">
                    <a16:rowId xmlns:a16="http://schemas.microsoft.com/office/drawing/2014/main" val="1538997844"/>
                  </a:ext>
                </a:extLst>
              </a:tr>
              <a:tr h="370840">
                <a:tc>
                  <a:txBody>
                    <a:bodyPr/>
                    <a:lstStyle/>
                    <a:p>
                      <a:pPr algn="ctr"/>
                      <a:r>
                        <a:rPr lang="en-US" sz="1600" b="0" i="0" kern="1200" dirty="0">
                          <a:solidFill>
                            <a:schemeClr val="tx1"/>
                          </a:solidFill>
                          <a:effectLst/>
                          <a:latin typeface="Lato" panose="020F0502020204030203" pitchFamily="34" charset="0"/>
                          <a:ea typeface="Lato" panose="020F0502020204030203" pitchFamily="34" charset="0"/>
                          <a:cs typeface="Lato" panose="020F0502020204030203" pitchFamily="34" charset="0"/>
                        </a:rPr>
                        <a:t>High DLL import count (&gt;12)</a:t>
                      </a:r>
                      <a:endParaRPr lang="en-US" sz="1600" dirty="0">
                        <a:latin typeface="Lato" panose="020F0502020204030203" pitchFamily="34" charset="0"/>
                        <a:ea typeface="Lato" panose="020F0502020204030203" pitchFamily="34" charset="0"/>
                        <a:cs typeface="Lato" panose="020F0502020204030203" pitchFamily="34" charset="0"/>
                      </a:endParaRPr>
                    </a:p>
                  </a:txBody>
                  <a:tcPr anchor="ctr"/>
                </a:tc>
                <a:tc>
                  <a:txBody>
                    <a:bodyPr/>
                    <a:lstStyle/>
                    <a:p>
                      <a:pPr algn="ctr"/>
                      <a:r>
                        <a:rPr lang="en-US" sz="1600" dirty="0">
                          <a:latin typeface="Lato" panose="020F0502020204030203" pitchFamily="34" charset="0"/>
                          <a:ea typeface="Lato" panose="020F0502020204030203" pitchFamily="34" charset="0"/>
                          <a:cs typeface="Lato" panose="020F0502020204030203" pitchFamily="34" charset="0"/>
                        </a:rPr>
                        <a:t>-20</a:t>
                      </a:r>
                    </a:p>
                  </a:txBody>
                  <a:tcPr anchor="ctr"/>
                </a:tc>
                <a:extLst>
                  <a:ext uri="{0D108BD9-81ED-4DB2-BD59-A6C34878D82A}">
                    <a16:rowId xmlns:a16="http://schemas.microsoft.com/office/drawing/2014/main" val="1651856553"/>
                  </a:ext>
                </a:extLst>
              </a:tr>
              <a:tr h="370840">
                <a:tc>
                  <a:txBody>
                    <a:bodyPr/>
                    <a:lstStyle/>
                    <a:p>
                      <a:pPr algn="ctr"/>
                      <a:r>
                        <a:rPr lang="en-US" sz="1600" b="0" i="0" kern="1200" dirty="0">
                          <a:solidFill>
                            <a:schemeClr val="tx1"/>
                          </a:solidFill>
                          <a:effectLst/>
                          <a:latin typeface="Lato" panose="020F0502020204030203" pitchFamily="34" charset="0"/>
                          <a:ea typeface="Lato" panose="020F0502020204030203" pitchFamily="34" charset="0"/>
                          <a:cs typeface="Lato" panose="020F0502020204030203" pitchFamily="34" charset="0"/>
                        </a:rPr>
                        <a:t>Windows API-Set DLL imports (&gt; 4 </a:t>
                      </a:r>
                      <a:r>
                        <a:rPr lang="en-US" sz="1600" b="1" i="1" kern="1200" dirty="0" err="1">
                          <a:solidFill>
                            <a:schemeClr val="tx1"/>
                          </a:solidFill>
                          <a:effectLst/>
                          <a:latin typeface="Lato" panose="020F0502020204030203" pitchFamily="34" charset="0"/>
                          <a:ea typeface="Lato" panose="020F0502020204030203" pitchFamily="34" charset="0"/>
                          <a:cs typeface="Lato" panose="020F0502020204030203" pitchFamily="34" charset="0"/>
                        </a:rPr>
                        <a:t>api</a:t>
                      </a:r>
                      <a:r>
                        <a:rPr lang="en-US" sz="1600" b="1" i="1" kern="1200" dirty="0">
                          <a:solidFill>
                            <a:schemeClr val="tx1"/>
                          </a:solidFill>
                          <a:effectLst/>
                          <a:latin typeface="Lato" panose="020F0502020204030203" pitchFamily="34" charset="0"/>
                          <a:ea typeface="Lato" panose="020F0502020204030203" pitchFamily="34" charset="0"/>
                          <a:cs typeface="Lato" panose="020F0502020204030203" pitchFamily="34" charset="0"/>
                        </a:rPr>
                        <a:t>-</a:t>
                      </a:r>
                      <a:r>
                        <a:rPr lang="en-US" sz="1600" b="1" i="1" kern="1200" dirty="0" err="1">
                          <a:solidFill>
                            <a:schemeClr val="tx1"/>
                          </a:solidFill>
                          <a:effectLst/>
                          <a:latin typeface="Lato" panose="020F0502020204030203" pitchFamily="34" charset="0"/>
                          <a:ea typeface="Lato" panose="020F0502020204030203" pitchFamily="34" charset="0"/>
                          <a:cs typeface="Lato" panose="020F0502020204030203" pitchFamily="34" charset="0"/>
                        </a:rPr>
                        <a:t>ms</a:t>
                      </a:r>
                      <a:r>
                        <a:rPr lang="en-US" sz="1600" b="1" i="1" kern="1200" dirty="0">
                          <a:solidFill>
                            <a:schemeClr val="tx1"/>
                          </a:solidFill>
                          <a:effectLst/>
                          <a:latin typeface="Lato" panose="020F0502020204030203" pitchFamily="34" charset="0"/>
                          <a:ea typeface="Lato" panose="020F0502020204030203" pitchFamily="34" charset="0"/>
                          <a:cs typeface="Lato" panose="020F0502020204030203" pitchFamily="34" charset="0"/>
                        </a:rPr>
                        <a:t>-win* </a:t>
                      </a:r>
                      <a:r>
                        <a:rPr lang="en-US" sz="1600" b="0" i="0" kern="1200" dirty="0">
                          <a:solidFill>
                            <a:schemeClr val="tx1"/>
                          </a:solidFill>
                          <a:effectLst/>
                          <a:latin typeface="Lato" panose="020F0502020204030203" pitchFamily="34" charset="0"/>
                          <a:ea typeface="Lato" panose="020F0502020204030203" pitchFamily="34" charset="0"/>
                          <a:cs typeface="Lato" panose="020F0502020204030203" pitchFamily="34" charset="0"/>
                        </a:rPr>
                        <a:t>libraries)</a:t>
                      </a:r>
                      <a:endParaRPr lang="en-US" sz="1600" dirty="0">
                        <a:latin typeface="Lato" panose="020F0502020204030203" pitchFamily="34" charset="0"/>
                        <a:ea typeface="Lato" panose="020F0502020204030203" pitchFamily="34" charset="0"/>
                        <a:cs typeface="Lato" panose="020F0502020204030203" pitchFamily="34" charset="0"/>
                      </a:endParaRPr>
                    </a:p>
                  </a:txBody>
                  <a:tcPr anchor="ctr"/>
                </a:tc>
                <a:tc>
                  <a:txBody>
                    <a:bodyPr/>
                    <a:lstStyle/>
                    <a:p>
                      <a:pPr algn="ctr"/>
                      <a:r>
                        <a:rPr lang="en-US" sz="1600" dirty="0">
                          <a:latin typeface="Lato" panose="020F0502020204030203" pitchFamily="34" charset="0"/>
                          <a:ea typeface="Lato" panose="020F0502020204030203" pitchFamily="34" charset="0"/>
                          <a:cs typeface="Lato" panose="020F0502020204030203" pitchFamily="34" charset="0"/>
                        </a:rPr>
                        <a:t>-20</a:t>
                      </a:r>
                    </a:p>
                  </a:txBody>
                  <a:tcPr anchor="ctr"/>
                </a:tc>
                <a:extLst>
                  <a:ext uri="{0D108BD9-81ED-4DB2-BD59-A6C34878D82A}">
                    <a16:rowId xmlns:a16="http://schemas.microsoft.com/office/drawing/2014/main" val="2860276728"/>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2008D34-33D2-CDBB-F1FF-2990E0B00581}"/>
                  </a:ext>
                </a:extLst>
              </p:cNvPr>
              <p:cNvSpPr txBox="1"/>
              <p:nvPr/>
            </p:nvSpPr>
            <p:spPr>
              <a:xfrm>
                <a:off x="7965161" y="3670180"/>
                <a:ext cx="3885352" cy="1015663"/>
              </a:xfrm>
              <a:prstGeom prst="rect">
                <a:avLst/>
              </a:prstGeom>
              <a:noFill/>
            </p:spPr>
            <p:txBody>
              <a:bodyPr wrap="square">
                <a:spAutoFit/>
              </a:bodyPr>
              <a:lstStyle/>
              <a:p>
                <a:pPr algn="l"/>
                <a:r>
                  <a:rPr lang="en-US" sz="2000" b="1" i="0" dirty="0">
                    <a:solidFill>
                      <a:srgbClr val="3B3B3B"/>
                    </a:solidFill>
                    <a:effectLst/>
                    <a:latin typeface="Lato" panose="020F0502020204030203" pitchFamily="34" charset="0"/>
                    <a:ea typeface="Lato" panose="020F0502020204030203" pitchFamily="34" charset="0"/>
                    <a:cs typeface="Lato" panose="020F0502020204030203" pitchFamily="34" charset="0"/>
                  </a:rPr>
                  <a:t>Classification Threshold</a:t>
                </a:r>
                <a:r>
                  <a:rPr lang="en-US" sz="2000" b="0" i="0" dirty="0">
                    <a:solidFill>
                      <a:srgbClr val="3B3B3B"/>
                    </a:solidFill>
                    <a:effectLst/>
                    <a:latin typeface="Lato" panose="020F0502020204030203" pitchFamily="34" charset="0"/>
                    <a:ea typeface="Lato" panose="020F0502020204030203" pitchFamily="34" charset="0"/>
                    <a:cs typeface="Lato" panose="020F0502020204030203" pitchFamily="34" charset="0"/>
                  </a:rPr>
                  <a:t>: Files with a score </a:t>
                </a:r>
                <a14:m>
                  <m:oMath xmlns:m="http://schemas.openxmlformats.org/officeDocument/2006/math">
                    <m:r>
                      <a:rPr lang="en-US" sz="2000" b="0" i="1" dirty="0" smtClean="0">
                        <a:solidFill>
                          <a:srgbClr val="3B3B3B"/>
                        </a:solidFill>
                        <a:effectLst/>
                        <a:latin typeface="Cambria Math" panose="02040503050406030204" pitchFamily="18" charset="0"/>
                        <a:ea typeface="Cambria Math" panose="02040503050406030204" pitchFamily="18" charset="0"/>
                        <a:cs typeface="Lato" panose="020F0502020204030203" pitchFamily="34" charset="0"/>
                      </a:rPr>
                      <m:t>≥50</m:t>
                    </m:r>
                  </m:oMath>
                </a14:m>
                <a:r>
                  <a:rPr lang="en-US" sz="2000" b="0" i="0" dirty="0">
                    <a:solidFill>
                      <a:srgbClr val="3B3B3B"/>
                    </a:solidFill>
                    <a:effectLst/>
                    <a:latin typeface="Lato" panose="020F0502020204030203" pitchFamily="34" charset="0"/>
                    <a:ea typeface="Lato" panose="020F0502020204030203" pitchFamily="34" charset="0"/>
                    <a:cs typeface="Lato" panose="020F0502020204030203" pitchFamily="34" charset="0"/>
                  </a:rPr>
                  <a:t> are classified as </a:t>
                </a:r>
                <a:r>
                  <a:rPr lang="en-US" sz="2000" b="1" i="0" dirty="0">
                    <a:solidFill>
                      <a:srgbClr val="3B3B3B"/>
                    </a:solidFill>
                    <a:effectLst/>
                    <a:latin typeface="Lato" panose="020F0502020204030203" pitchFamily="34" charset="0"/>
                    <a:ea typeface="Lato" panose="020F0502020204030203" pitchFamily="34" charset="0"/>
                    <a:cs typeface="Lato" panose="020F0502020204030203" pitchFamily="34" charset="0"/>
                  </a:rPr>
                  <a:t>MALWARE</a:t>
                </a:r>
                <a:r>
                  <a:rPr lang="en-US" sz="2000" b="0" i="0" dirty="0">
                    <a:solidFill>
                      <a:srgbClr val="3B3B3B"/>
                    </a:solidFill>
                    <a:effectLst/>
                    <a:latin typeface="Lato" panose="020F0502020204030203" pitchFamily="34" charset="0"/>
                    <a:ea typeface="Lato" panose="020F0502020204030203" pitchFamily="34" charset="0"/>
                    <a:cs typeface="Lato" panose="020F0502020204030203" pitchFamily="34" charset="0"/>
                  </a:rPr>
                  <a:t>.</a:t>
                </a:r>
              </a:p>
            </p:txBody>
          </p:sp>
        </mc:Choice>
        <mc:Fallback xmlns="">
          <p:sp>
            <p:nvSpPr>
              <p:cNvPr id="12" name="TextBox 11">
                <a:extLst>
                  <a:ext uri="{FF2B5EF4-FFF2-40B4-BE49-F238E27FC236}">
                    <a16:creationId xmlns:a16="http://schemas.microsoft.com/office/drawing/2014/main" id="{B2008D34-33D2-CDBB-F1FF-2990E0B00581}"/>
                  </a:ext>
                </a:extLst>
              </p:cNvPr>
              <p:cNvSpPr txBox="1">
                <a:spLocks noRot="1" noChangeAspect="1" noMove="1" noResize="1" noEditPoints="1" noAdjustHandles="1" noChangeArrowheads="1" noChangeShapeType="1" noTextEdit="1"/>
              </p:cNvSpPr>
              <p:nvPr/>
            </p:nvSpPr>
            <p:spPr>
              <a:xfrm>
                <a:off x="7965161" y="3670180"/>
                <a:ext cx="3885352" cy="1015663"/>
              </a:xfrm>
              <a:prstGeom prst="rect">
                <a:avLst/>
              </a:prstGeom>
              <a:blipFill>
                <a:blip r:embed="rId3"/>
                <a:stretch>
                  <a:fillRect l="-1727" t="-2994" b="-9581"/>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82E0111A-A0D2-30C1-A5DD-49F3D654C37A}"/>
              </a:ext>
            </a:extLst>
          </p:cNvPr>
          <p:cNvCxnSpPr>
            <a:cxnSpLocks/>
          </p:cNvCxnSpPr>
          <p:nvPr/>
        </p:nvCxnSpPr>
        <p:spPr>
          <a:xfrm>
            <a:off x="7632441" y="3890865"/>
            <a:ext cx="33272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87953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9A282-49AE-CC1D-5476-1D47FCC04511}"/>
              </a:ext>
            </a:extLst>
          </p:cNvPr>
          <p:cNvSpPr>
            <a:spLocks noGrp="1"/>
          </p:cNvSpPr>
          <p:nvPr>
            <p:ph type="title"/>
          </p:nvPr>
        </p:nvSpPr>
        <p:spPr/>
        <p:txBody>
          <a:bodyPr/>
          <a:lstStyle/>
          <a:p>
            <a:r>
              <a:rPr lang="en-US" dirty="0"/>
              <a:t>1. Theoretical Background –  Heuristic Probability Curve</a:t>
            </a:r>
            <a:br>
              <a:rPr lang="en-US" dirty="0"/>
            </a:br>
            <a:endParaRPr lang="en-US" dirty="0"/>
          </a:p>
        </p:txBody>
      </p:sp>
      <p:sp>
        <p:nvSpPr>
          <p:cNvPr id="3" name="Text Placeholder 2">
            <a:extLst>
              <a:ext uri="{FF2B5EF4-FFF2-40B4-BE49-F238E27FC236}">
                <a16:creationId xmlns:a16="http://schemas.microsoft.com/office/drawing/2014/main" id="{188024C5-00C9-EFD8-6A47-DEAE1D7A3E7A}"/>
              </a:ext>
            </a:extLst>
          </p:cNvPr>
          <p:cNvSpPr>
            <a:spLocks noGrp="1"/>
          </p:cNvSpPr>
          <p:nvPr>
            <p:ph type="body" sz="quarter" idx="13"/>
          </p:nvPr>
        </p:nvSpPr>
        <p:spPr/>
        <p:txBody>
          <a:bodyPr/>
          <a:lstStyle/>
          <a:p>
            <a:pPr marL="0" indent="0">
              <a:buNone/>
            </a:pPr>
            <a:r>
              <a:rPr lang="en-US" sz="2000" dirty="0"/>
              <a:t>To express threat likelihood as a percentage rather than a raw score, the engine computes a Malware Probability</a:t>
            </a:r>
            <a:r>
              <a:rPr lang="en-US" sz="2000" b="1" dirty="0"/>
              <a:t> </a:t>
            </a:r>
            <a:r>
              <a:rPr lang="en-US" sz="2000" i="1" dirty="0"/>
              <a:t>P </a:t>
            </a:r>
            <a:r>
              <a:rPr lang="en-US" sz="2000" dirty="0"/>
              <a:t>using an exponential curve: </a:t>
            </a:r>
            <a:br>
              <a:rPr lang="en-US" dirty="0"/>
            </a:br>
            <a:endParaRPr lang="en-US" dirty="0"/>
          </a:p>
        </p:txBody>
      </p:sp>
      <p:sp>
        <p:nvSpPr>
          <p:cNvPr id="4" name="Slide Number Placeholder 3">
            <a:extLst>
              <a:ext uri="{FF2B5EF4-FFF2-40B4-BE49-F238E27FC236}">
                <a16:creationId xmlns:a16="http://schemas.microsoft.com/office/drawing/2014/main" id="{CECD3136-FAE4-782F-DD2E-E273E90473A0}"/>
              </a:ext>
            </a:extLst>
          </p:cNvPr>
          <p:cNvSpPr>
            <a:spLocks noGrp="1"/>
          </p:cNvSpPr>
          <p:nvPr>
            <p:ph type="sldNum" sz="quarter" idx="12"/>
          </p:nvPr>
        </p:nvSpPr>
        <p:spPr/>
        <p:txBody>
          <a:bodyPr/>
          <a:lstStyle/>
          <a:p>
            <a:fld id="{9EA0BE3B-158A-4EDF-80DC-E394A0D1600F}" type="slidenum">
              <a:rPr lang="en-US" smtClean="0"/>
              <a:pPr/>
              <a:t>17</a:t>
            </a:fld>
            <a:endParaRPr lang="en-US"/>
          </a:p>
        </p:txBody>
      </p:sp>
      <p:pic>
        <p:nvPicPr>
          <p:cNvPr id="6" name="Picture 5">
            <a:extLst>
              <a:ext uri="{FF2B5EF4-FFF2-40B4-BE49-F238E27FC236}">
                <a16:creationId xmlns:a16="http://schemas.microsoft.com/office/drawing/2014/main" id="{21CE3AE1-5D1B-733C-35BA-2DFF46A2B7FD}"/>
              </a:ext>
            </a:extLst>
          </p:cNvPr>
          <p:cNvPicPr>
            <a:picLocks noChangeAspect="1"/>
          </p:cNvPicPr>
          <p:nvPr/>
        </p:nvPicPr>
        <p:blipFill>
          <a:blip r:embed="rId2"/>
          <a:stretch>
            <a:fillRect/>
          </a:stretch>
        </p:blipFill>
        <p:spPr>
          <a:xfrm>
            <a:off x="1431621" y="1852867"/>
            <a:ext cx="9327559" cy="1188913"/>
          </a:xfrm>
          <a:prstGeom prst="rect">
            <a:avLst/>
          </a:prstGeom>
        </p:spPr>
      </p:pic>
      <p:sp>
        <p:nvSpPr>
          <p:cNvPr id="7" name="TextBox 6">
            <a:extLst>
              <a:ext uri="{FF2B5EF4-FFF2-40B4-BE49-F238E27FC236}">
                <a16:creationId xmlns:a16="http://schemas.microsoft.com/office/drawing/2014/main" id="{2A6869AE-4ADF-2A1F-7E9C-4A6EE4DD662D}"/>
              </a:ext>
            </a:extLst>
          </p:cNvPr>
          <p:cNvSpPr txBox="1"/>
          <p:nvPr/>
        </p:nvSpPr>
        <p:spPr>
          <a:xfrm>
            <a:off x="337539" y="3429000"/>
            <a:ext cx="5859625" cy="369332"/>
          </a:xfrm>
          <a:prstGeom prst="rect">
            <a:avLst/>
          </a:prstGeom>
          <a:noFill/>
        </p:spPr>
        <p:txBody>
          <a:bodyPr wrap="square" rtlCol="0">
            <a:spAutoFit/>
          </a:bodyPr>
          <a:lstStyle/>
          <a:p>
            <a:r>
              <a:rPr lang="en-US" dirty="0">
                <a:latin typeface="Lato" panose="020F0502020204030203" pitchFamily="34" charset="0"/>
                <a:ea typeface="Lato" panose="020F0502020204030203" pitchFamily="34" charset="0"/>
                <a:cs typeface="Lato" panose="020F0502020204030203" pitchFamily="34" charset="0"/>
              </a:rPr>
              <a:t>While S is the heuristic score, Threshold = 50</a:t>
            </a:r>
          </a:p>
        </p:txBody>
      </p:sp>
      <p:sp>
        <p:nvSpPr>
          <p:cNvPr id="8" name="TextBox 7">
            <a:extLst>
              <a:ext uri="{FF2B5EF4-FFF2-40B4-BE49-F238E27FC236}">
                <a16:creationId xmlns:a16="http://schemas.microsoft.com/office/drawing/2014/main" id="{120A64F4-81B8-6B92-B642-6164BBE6D2F1}"/>
              </a:ext>
            </a:extLst>
          </p:cNvPr>
          <p:cNvSpPr txBox="1"/>
          <p:nvPr/>
        </p:nvSpPr>
        <p:spPr>
          <a:xfrm>
            <a:off x="830470" y="4183336"/>
            <a:ext cx="10217020" cy="646331"/>
          </a:xfrm>
          <a:prstGeom prst="rect">
            <a:avLst/>
          </a:prstGeom>
          <a:noFill/>
        </p:spPr>
        <p:txBody>
          <a:bodyPr wrap="square" rtlCol="0">
            <a:spAutoFit/>
          </a:bodyPr>
          <a:lstStyle/>
          <a:p>
            <a:r>
              <a:rPr lang="en-US" dirty="0">
                <a:latin typeface="Lato" panose="020F0502020204030203" pitchFamily="34" charset="0"/>
                <a:ea typeface="Lato" panose="020F0502020204030203" pitchFamily="34" charset="0"/>
                <a:cs typeface="Lato" panose="020F0502020204030203" pitchFamily="34" charset="0"/>
              </a:rPr>
              <a:t>Scores that are far above the threshold asymptotically approach 100% malware probability. </a:t>
            </a:r>
            <a:br>
              <a:rPr lang="en-US" dirty="0">
                <a:latin typeface="Lato" panose="020F0502020204030203" pitchFamily="34" charset="0"/>
                <a:ea typeface="Lato" panose="020F0502020204030203" pitchFamily="34" charset="0"/>
                <a:cs typeface="Lato" panose="020F0502020204030203" pitchFamily="34" charset="0"/>
              </a:rPr>
            </a:br>
            <a:endParaRPr lang="en-US" dirty="0">
              <a:latin typeface="Lato" panose="020F0502020204030203" pitchFamily="34" charset="0"/>
              <a:ea typeface="Lato" panose="020F0502020204030203" pitchFamily="34" charset="0"/>
              <a:cs typeface="Lato" panose="020F0502020204030203" pitchFamily="34" charset="0"/>
            </a:endParaRPr>
          </a:p>
        </p:txBody>
      </p:sp>
      <p:cxnSp>
        <p:nvCxnSpPr>
          <p:cNvPr id="9" name="Straight Arrow Connector 8">
            <a:extLst>
              <a:ext uri="{FF2B5EF4-FFF2-40B4-BE49-F238E27FC236}">
                <a16:creationId xmlns:a16="http://schemas.microsoft.com/office/drawing/2014/main" id="{DDEB250F-7D5C-920E-10EA-6F0F04A857E3}"/>
              </a:ext>
            </a:extLst>
          </p:cNvPr>
          <p:cNvCxnSpPr>
            <a:cxnSpLocks/>
          </p:cNvCxnSpPr>
          <p:nvPr/>
        </p:nvCxnSpPr>
        <p:spPr>
          <a:xfrm>
            <a:off x="497750" y="4366727"/>
            <a:ext cx="33272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1425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A28ED-61A0-24C9-0B3C-AA3EB330D9D6}"/>
              </a:ext>
            </a:extLst>
          </p:cNvPr>
          <p:cNvSpPr>
            <a:spLocks noGrp="1"/>
          </p:cNvSpPr>
          <p:nvPr>
            <p:ph type="title"/>
          </p:nvPr>
        </p:nvSpPr>
        <p:spPr/>
        <p:txBody>
          <a:bodyPr/>
          <a:lstStyle/>
          <a:p>
            <a:r>
              <a:rPr lang="en-US" dirty="0"/>
              <a:t>2. System Architecture</a:t>
            </a:r>
            <a:br>
              <a:rPr lang="en-US" dirty="0"/>
            </a:br>
            <a:endParaRPr lang="en-US" dirty="0"/>
          </a:p>
        </p:txBody>
      </p:sp>
      <p:sp>
        <p:nvSpPr>
          <p:cNvPr id="4" name="Slide Number Placeholder 3">
            <a:extLst>
              <a:ext uri="{FF2B5EF4-FFF2-40B4-BE49-F238E27FC236}">
                <a16:creationId xmlns:a16="http://schemas.microsoft.com/office/drawing/2014/main" id="{CDE4313E-31D7-F1C1-A5D3-A10CCE493BBF}"/>
              </a:ext>
            </a:extLst>
          </p:cNvPr>
          <p:cNvSpPr>
            <a:spLocks noGrp="1"/>
          </p:cNvSpPr>
          <p:nvPr>
            <p:ph type="sldNum" sz="quarter" idx="12"/>
          </p:nvPr>
        </p:nvSpPr>
        <p:spPr/>
        <p:txBody>
          <a:bodyPr/>
          <a:lstStyle/>
          <a:p>
            <a:fld id="{9EA0BE3B-158A-4EDF-80DC-E394A0D1600F}" type="slidenum">
              <a:rPr lang="en-US" smtClean="0"/>
              <a:pPr/>
              <a:t>18</a:t>
            </a:fld>
            <a:endParaRPr lang="en-US"/>
          </a:p>
        </p:txBody>
      </p:sp>
      <p:pic>
        <p:nvPicPr>
          <p:cNvPr id="10" name="Picture 9">
            <a:extLst>
              <a:ext uri="{FF2B5EF4-FFF2-40B4-BE49-F238E27FC236}">
                <a16:creationId xmlns:a16="http://schemas.microsoft.com/office/drawing/2014/main" id="{0A75A7AF-91F7-3CDC-810B-65CECFBBB8DE}"/>
              </a:ext>
            </a:extLst>
          </p:cNvPr>
          <p:cNvPicPr>
            <a:picLocks noChangeAspect="1"/>
          </p:cNvPicPr>
          <p:nvPr/>
        </p:nvPicPr>
        <p:blipFill>
          <a:blip r:embed="rId2"/>
          <a:stretch>
            <a:fillRect/>
          </a:stretch>
        </p:blipFill>
        <p:spPr>
          <a:xfrm>
            <a:off x="1879620" y="1255874"/>
            <a:ext cx="8648491" cy="4346252"/>
          </a:xfrm>
          <a:prstGeom prst="rect">
            <a:avLst/>
          </a:prstGeom>
        </p:spPr>
      </p:pic>
    </p:spTree>
    <p:extLst>
      <p:ext uri="{BB962C8B-B14F-4D97-AF65-F5344CB8AC3E}">
        <p14:creationId xmlns:p14="http://schemas.microsoft.com/office/powerpoint/2010/main" val="18160751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206E0-EBF5-EC81-1029-FE9861CCB1EC}"/>
              </a:ext>
            </a:extLst>
          </p:cNvPr>
          <p:cNvSpPr>
            <a:spLocks noGrp="1"/>
          </p:cNvSpPr>
          <p:nvPr>
            <p:ph type="title"/>
          </p:nvPr>
        </p:nvSpPr>
        <p:spPr/>
        <p:txBody>
          <a:bodyPr/>
          <a:lstStyle/>
          <a:p>
            <a:r>
              <a:rPr lang="en-US" dirty="0"/>
              <a:t>3. Evaluation</a:t>
            </a:r>
          </a:p>
        </p:txBody>
      </p:sp>
      <p:sp>
        <p:nvSpPr>
          <p:cNvPr id="3" name="Text Placeholder 2">
            <a:extLst>
              <a:ext uri="{FF2B5EF4-FFF2-40B4-BE49-F238E27FC236}">
                <a16:creationId xmlns:a16="http://schemas.microsoft.com/office/drawing/2014/main" id="{0AA606DF-B5B3-7CCC-B5A2-E1B76DBF9534}"/>
              </a:ext>
            </a:extLst>
          </p:cNvPr>
          <p:cNvSpPr>
            <a:spLocks noGrp="1"/>
          </p:cNvSpPr>
          <p:nvPr>
            <p:ph type="body" sz="quarter" idx="13"/>
          </p:nvPr>
        </p:nvSpPr>
        <p:spPr>
          <a:xfrm>
            <a:off x="338737" y="922019"/>
            <a:ext cx="11514527" cy="348421"/>
          </a:xfrm>
        </p:spPr>
        <p:txBody>
          <a:bodyPr/>
          <a:lstStyle/>
          <a:p>
            <a:pPr marL="0" indent="0">
              <a:lnSpc>
                <a:spcPct val="150000"/>
              </a:lnSpc>
              <a:buNone/>
            </a:pPr>
            <a:r>
              <a:rPr lang="en-US" sz="1800" dirty="0"/>
              <a:t>The performance of the heuristic engine was validated against a large-scale static features database containing 1</a:t>
            </a:r>
            <a:r>
              <a:rPr lang="en-US" sz="1800" i="1" dirty="0"/>
              <a:t>,</a:t>
            </a:r>
            <a:r>
              <a:rPr lang="en-US" sz="1800" dirty="0"/>
              <a:t>797 samples:</a:t>
            </a:r>
            <a:br>
              <a:rPr lang="en-US" sz="1800" dirty="0"/>
            </a:br>
            <a:r>
              <a:rPr lang="en-US" sz="1800" dirty="0"/>
              <a:t>• </a:t>
            </a:r>
            <a:r>
              <a:rPr lang="en-US" sz="1800" b="1" dirty="0"/>
              <a:t>Benign Samples</a:t>
            </a:r>
            <a:r>
              <a:rPr lang="en-US" sz="1800" dirty="0"/>
              <a:t>: 993 legitimate Windows executables, DLLs, and system drivers.</a:t>
            </a:r>
            <a:br>
              <a:rPr lang="en-US" sz="1800" dirty="0"/>
            </a:br>
            <a:r>
              <a:rPr lang="en-US" sz="1800" dirty="0"/>
              <a:t>• </a:t>
            </a:r>
            <a:r>
              <a:rPr lang="en-US" sz="1800" b="1" dirty="0"/>
              <a:t>Malware Samples</a:t>
            </a:r>
            <a:r>
              <a:rPr lang="en-US" sz="1800" dirty="0"/>
              <a:t>: 804 wild malware binaries collected securely from </a:t>
            </a:r>
            <a:r>
              <a:rPr lang="en-US" sz="1800" dirty="0" err="1"/>
              <a:t>MalwareBazaar</a:t>
            </a:r>
            <a:r>
              <a:rPr lang="en-US" sz="1800" dirty="0"/>
              <a:t>. </a:t>
            </a:r>
            <a:br>
              <a:rPr lang="en-US" sz="1800" dirty="0"/>
            </a:br>
            <a:endParaRPr lang="en-US" sz="1800" dirty="0"/>
          </a:p>
        </p:txBody>
      </p:sp>
      <p:sp>
        <p:nvSpPr>
          <p:cNvPr id="4" name="Slide Number Placeholder 3">
            <a:extLst>
              <a:ext uri="{FF2B5EF4-FFF2-40B4-BE49-F238E27FC236}">
                <a16:creationId xmlns:a16="http://schemas.microsoft.com/office/drawing/2014/main" id="{7DCF84E6-E607-888E-71ED-17148809BD2E}"/>
              </a:ext>
            </a:extLst>
          </p:cNvPr>
          <p:cNvSpPr>
            <a:spLocks noGrp="1"/>
          </p:cNvSpPr>
          <p:nvPr>
            <p:ph type="sldNum" sz="quarter" idx="12"/>
          </p:nvPr>
        </p:nvSpPr>
        <p:spPr/>
        <p:txBody>
          <a:bodyPr/>
          <a:lstStyle/>
          <a:p>
            <a:fld id="{9EA0BE3B-158A-4EDF-80DC-E394A0D1600F}" type="slidenum">
              <a:rPr lang="en-US" smtClean="0"/>
              <a:pPr/>
              <a:t>19</a:t>
            </a:fld>
            <a:endParaRPr lang="en-US"/>
          </a:p>
        </p:txBody>
      </p:sp>
      <p:pic>
        <p:nvPicPr>
          <p:cNvPr id="6" name="Picture 5">
            <a:extLst>
              <a:ext uri="{FF2B5EF4-FFF2-40B4-BE49-F238E27FC236}">
                <a16:creationId xmlns:a16="http://schemas.microsoft.com/office/drawing/2014/main" id="{9492AB1A-F9F0-B78F-3A80-C6BA9F071550}"/>
              </a:ext>
            </a:extLst>
          </p:cNvPr>
          <p:cNvPicPr>
            <a:picLocks noChangeAspect="1"/>
          </p:cNvPicPr>
          <p:nvPr/>
        </p:nvPicPr>
        <p:blipFill>
          <a:blip r:embed="rId2"/>
          <a:stretch>
            <a:fillRect/>
          </a:stretch>
        </p:blipFill>
        <p:spPr>
          <a:xfrm>
            <a:off x="2051768" y="2750567"/>
            <a:ext cx="8088463" cy="3364456"/>
          </a:xfrm>
          <a:prstGeom prst="rect">
            <a:avLst/>
          </a:prstGeom>
        </p:spPr>
      </p:pic>
    </p:spTree>
    <p:extLst>
      <p:ext uri="{BB962C8B-B14F-4D97-AF65-F5344CB8AC3E}">
        <p14:creationId xmlns:p14="http://schemas.microsoft.com/office/powerpoint/2010/main" val="12104590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8ADC5-C790-610B-F68A-387174E6EE07}"/>
              </a:ext>
            </a:extLst>
          </p:cNvPr>
          <p:cNvSpPr>
            <a:spLocks noGrp="1"/>
          </p:cNvSpPr>
          <p:nvPr>
            <p:ph type="title"/>
          </p:nvPr>
        </p:nvSpPr>
        <p:spPr/>
        <p:txBody>
          <a:bodyPr/>
          <a:lstStyle/>
          <a:p>
            <a:r>
              <a:rPr lang="en-US" dirty="0"/>
              <a:t>4. Conclusion</a:t>
            </a:r>
          </a:p>
        </p:txBody>
      </p:sp>
      <p:sp>
        <p:nvSpPr>
          <p:cNvPr id="3" name="Text Placeholder 2">
            <a:extLst>
              <a:ext uri="{FF2B5EF4-FFF2-40B4-BE49-F238E27FC236}">
                <a16:creationId xmlns:a16="http://schemas.microsoft.com/office/drawing/2014/main" id="{39D701C6-22E4-BDC8-93C9-F4EB64560801}"/>
              </a:ext>
            </a:extLst>
          </p:cNvPr>
          <p:cNvSpPr>
            <a:spLocks noGrp="1"/>
          </p:cNvSpPr>
          <p:nvPr>
            <p:ph type="body" sz="quarter" idx="13"/>
          </p:nvPr>
        </p:nvSpPr>
        <p:spPr>
          <a:xfrm>
            <a:off x="337539" y="959643"/>
            <a:ext cx="11515725" cy="4938713"/>
          </a:xfrm>
        </p:spPr>
        <p:txBody>
          <a:bodyPr/>
          <a:lstStyle/>
          <a:p>
            <a:pPr>
              <a:spcBef>
                <a:spcPts val="125"/>
              </a:spcBef>
              <a:spcAft>
                <a:spcPts val="500"/>
              </a:spcAft>
            </a:pPr>
            <a:r>
              <a:rPr lang="en-US" b="1" dirty="0"/>
              <a:t>Core strength</a:t>
            </a:r>
            <a:r>
              <a:rPr lang="en-US" dirty="0"/>
              <a:t>:</a:t>
            </a:r>
          </a:p>
          <a:p>
            <a:pPr lvl="1">
              <a:spcBef>
                <a:spcPts val="125"/>
              </a:spcBef>
              <a:spcAft>
                <a:spcPts val="500"/>
              </a:spcAft>
            </a:pPr>
            <a:r>
              <a:rPr lang="en-US" b="1" dirty="0"/>
              <a:t>Safety &amp; Speed: </a:t>
            </a:r>
            <a:r>
              <a:rPr lang="en-US" dirty="0"/>
              <a:t>Evaluates files statically in milliseconds with zero threat execution risk.</a:t>
            </a:r>
          </a:p>
          <a:p>
            <a:pPr lvl="1">
              <a:spcBef>
                <a:spcPts val="125"/>
              </a:spcBef>
              <a:spcAft>
                <a:spcPts val="500"/>
              </a:spcAft>
            </a:pPr>
            <a:r>
              <a:rPr lang="en-US" b="1" dirty="0"/>
              <a:t>Robust Obfuscation Heuristics: </a:t>
            </a:r>
            <a:r>
              <a:rPr lang="en-US" dirty="0"/>
              <a:t>Catches packer stubs using entropy triggers and a custom 3-gram assembly FSM.</a:t>
            </a:r>
          </a:p>
          <a:p>
            <a:pPr lvl="1">
              <a:spcBef>
                <a:spcPts val="125"/>
              </a:spcBef>
              <a:spcAft>
                <a:spcPts val="500"/>
              </a:spcAft>
            </a:pPr>
            <a:endParaRPr lang="en-US" dirty="0"/>
          </a:p>
          <a:p>
            <a:pPr>
              <a:spcBef>
                <a:spcPts val="125"/>
              </a:spcBef>
              <a:spcAft>
                <a:spcPts val="500"/>
              </a:spcAft>
            </a:pPr>
            <a:r>
              <a:rPr lang="en-US" b="1" dirty="0"/>
              <a:t>Drawbacks:</a:t>
            </a:r>
          </a:p>
          <a:p>
            <a:pPr lvl="1">
              <a:spcBef>
                <a:spcPts val="125"/>
              </a:spcBef>
              <a:spcAft>
                <a:spcPts val="500"/>
              </a:spcAft>
            </a:pPr>
            <a:r>
              <a:rPr lang="en-US" b="1" dirty="0"/>
              <a:t>API Obfuscation Blindspot: </a:t>
            </a:r>
            <a:r>
              <a:rPr lang="en-US" dirty="0"/>
              <a:t>Unable to map API calls if resolved dynamically using custom hashes.</a:t>
            </a:r>
          </a:p>
          <a:p>
            <a:pPr lvl="1">
              <a:spcBef>
                <a:spcPts val="125"/>
              </a:spcBef>
              <a:spcAft>
                <a:spcPts val="500"/>
              </a:spcAft>
            </a:pPr>
            <a:r>
              <a:rPr lang="en-US" b="1" dirty="0"/>
              <a:t>Payload Encryption Limits: </a:t>
            </a:r>
            <a:r>
              <a:rPr lang="en-US" dirty="0"/>
              <a:t>Static analysis cannot parse hidden instructions before they are loaded into RAM.</a:t>
            </a:r>
          </a:p>
          <a:p>
            <a:pPr lvl="1">
              <a:spcBef>
                <a:spcPts val="125"/>
              </a:spcBef>
              <a:spcAft>
                <a:spcPts val="500"/>
              </a:spcAft>
            </a:pPr>
            <a:r>
              <a:rPr lang="en-US" b="1" dirty="0"/>
              <a:t>Dual-Use Tool Overlaps: </a:t>
            </a:r>
            <a:r>
              <a:rPr lang="en-US" dirty="0"/>
              <a:t>Legitimate debuggers and command engines naturally trigger injection rule</a:t>
            </a:r>
          </a:p>
          <a:p>
            <a:pPr marL="0" indent="0">
              <a:spcBef>
                <a:spcPts val="125"/>
              </a:spcBef>
              <a:spcAft>
                <a:spcPts val="500"/>
              </a:spcAft>
              <a:buNone/>
            </a:pPr>
            <a:br>
              <a:rPr lang="en-US" dirty="0"/>
            </a:br>
            <a:endParaRPr lang="en-US" dirty="0"/>
          </a:p>
        </p:txBody>
      </p:sp>
      <p:sp>
        <p:nvSpPr>
          <p:cNvPr id="4" name="Slide Number Placeholder 3">
            <a:extLst>
              <a:ext uri="{FF2B5EF4-FFF2-40B4-BE49-F238E27FC236}">
                <a16:creationId xmlns:a16="http://schemas.microsoft.com/office/drawing/2014/main" id="{11A62AD0-B8E2-E365-74C5-82F109646DF3}"/>
              </a:ext>
            </a:extLst>
          </p:cNvPr>
          <p:cNvSpPr>
            <a:spLocks noGrp="1"/>
          </p:cNvSpPr>
          <p:nvPr>
            <p:ph type="sldNum" sz="quarter" idx="12"/>
          </p:nvPr>
        </p:nvSpPr>
        <p:spPr/>
        <p:txBody>
          <a:bodyPr/>
          <a:lstStyle/>
          <a:p>
            <a:fld id="{9EA0BE3B-158A-4EDF-80DC-E394A0D1600F}" type="slidenum">
              <a:rPr lang="en-US" smtClean="0"/>
              <a:pPr/>
              <a:t>20</a:t>
            </a:fld>
            <a:endParaRPr lang="en-US"/>
          </a:p>
        </p:txBody>
      </p:sp>
    </p:spTree>
    <p:extLst>
      <p:ext uri="{BB962C8B-B14F-4D97-AF65-F5344CB8AC3E}">
        <p14:creationId xmlns:p14="http://schemas.microsoft.com/office/powerpoint/2010/main" val="24886699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6">
            <a:extLst>
              <a:ext uri="{FF2B5EF4-FFF2-40B4-BE49-F238E27FC236}">
                <a16:creationId xmlns:a16="http://schemas.microsoft.com/office/drawing/2014/main" id="{5945A2BB-ABB6-48FB-A491-502474D93E34}"/>
              </a:ext>
            </a:extLst>
          </p:cNvPr>
          <p:cNvSpPr txBox="1">
            <a:spLocks/>
          </p:cNvSpPr>
          <p:nvPr/>
        </p:nvSpPr>
        <p:spPr>
          <a:xfrm>
            <a:off x="5605763" y="2869457"/>
            <a:ext cx="5422456" cy="971304"/>
          </a:xfrm>
          <a:prstGeom prst="rect">
            <a:avLst/>
          </a:prstGeom>
        </p:spPr>
        <p:txBody>
          <a:bodyPr/>
          <a:lstStyle>
            <a:lvl1pPr algn="l" defTabSz="914400" rtl="0" eaLnBrk="1" latinLnBrk="0" hangingPunct="1">
              <a:lnSpc>
                <a:spcPct val="90000"/>
              </a:lnSpc>
              <a:spcBef>
                <a:spcPct val="0"/>
              </a:spcBef>
              <a:buNone/>
              <a:defRPr sz="72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6000" dirty="0"/>
              <a:t>THANK YOU !</a:t>
            </a:r>
          </a:p>
        </p:txBody>
      </p:sp>
      <p:sp>
        <p:nvSpPr>
          <p:cNvPr id="3" name="Slide Number Placeholder 2">
            <a:extLst>
              <a:ext uri="{FF2B5EF4-FFF2-40B4-BE49-F238E27FC236}">
                <a16:creationId xmlns:a16="http://schemas.microsoft.com/office/drawing/2014/main" id="{B255FE58-BA70-418C-863F-55066B6675FB}"/>
              </a:ext>
            </a:extLst>
          </p:cNvPr>
          <p:cNvSpPr>
            <a:spLocks noGrp="1"/>
          </p:cNvSpPr>
          <p:nvPr>
            <p:ph type="sldNum" sz="quarter" idx="12"/>
          </p:nvPr>
        </p:nvSpPr>
        <p:spPr/>
        <p:txBody>
          <a:bodyPr/>
          <a:lstStyle/>
          <a:p>
            <a:fld id="{9EA0BE3B-158A-4EDF-80DC-E394A0D1600F}" type="slidenum">
              <a:rPr lang="en-US" smtClean="0"/>
              <a:pPr/>
              <a:t>21</a:t>
            </a:fld>
            <a:endParaRPr lang="en-US"/>
          </a:p>
        </p:txBody>
      </p:sp>
    </p:spTree>
    <p:extLst>
      <p:ext uri="{BB962C8B-B14F-4D97-AF65-F5344CB8AC3E}">
        <p14:creationId xmlns:p14="http://schemas.microsoft.com/office/powerpoint/2010/main" val="27906271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582</TotalTime>
  <Words>1196</Words>
  <Application>Microsoft Office PowerPoint</Application>
  <PresentationFormat>Widescreen</PresentationFormat>
  <Paragraphs>135</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Cambria Math</vt:lpstr>
      <vt:lpstr>Lato</vt:lpstr>
      <vt:lpstr>Office Theme</vt:lpstr>
      <vt:lpstr>PowerPoint Presentation</vt:lpstr>
      <vt:lpstr>PowerPoint Presentation</vt:lpstr>
      <vt:lpstr>Members</vt:lpstr>
      <vt:lpstr>Table of Contents </vt:lpstr>
      <vt:lpstr>0. Background</vt:lpstr>
      <vt:lpstr>0. Background - Objective</vt:lpstr>
      <vt:lpstr>0. Background - Scope</vt:lpstr>
      <vt:lpstr>0. Background – Environment and Tools</vt:lpstr>
      <vt:lpstr>1. Theoretical Background – PE Format &amp; Disassembly</vt:lpstr>
      <vt:lpstr>1. Theoretical Background – PE Format &amp; Disassembly</vt:lpstr>
      <vt:lpstr>1. Theoretical Background – PE Format &amp; Diassembly</vt:lpstr>
      <vt:lpstr>1. Theoretical Background – Shannon Entropy</vt:lpstr>
      <vt:lpstr>1. Theoretical Background – Packing &amp; Obfuscation</vt:lpstr>
      <vt:lpstr>1. Theoretical Background – Behavioral FSM: API Chain Tracking </vt:lpstr>
      <vt:lpstr>1. Theoretical Background –  Decryption Loop FSM  </vt:lpstr>
      <vt:lpstr>1. Theoretical Background –  Weighted Heuristic Scoring Model </vt:lpstr>
      <vt:lpstr>1. Theoretical Background –  Heuristic Probability Curve </vt:lpstr>
      <vt:lpstr>2. System Architecture </vt:lpstr>
      <vt:lpstr>3. Evaluation</vt:lpstr>
      <vt:lpstr>4. 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M41 P</cp:lastModifiedBy>
  <cp:revision>17</cp:revision>
  <dcterms:created xsi:type="dcterms:W3CDTF">2021-05-28T04:32:29Z</dcterms:created>
  <dcterms:modified xsi:type="dcterms:W3CDTF">2026-06-29T08:34:48Z</dcterms:modified>
</cp:coreProperties>
</file>