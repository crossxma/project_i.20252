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9" r:id="rId2"/>
    <p:sldId id="257" r:id="rId3"/>
    <p:sldId id="260" r:id="rId4"/>
    <p:sldId id="261" r:id="rId5"/>
    <p:sldId id="269" r:id="rId6"/>
    <p:sldId id="25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6/25/2026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100729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Classification of Malware Behavior Based on Known Malware Samples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11989" y="4718337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Đinh Phương Mai – 202417162</a:t>
            </a:r>
          </a:p>
          <a:p>
            <a:r>
              <a:rPr lang="en-US" dirty="0"/>
              <a:t>Nguyễn Thành Công - 202416783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30200" y="1406769"/>
            <a:ext cx="10623939" cy="46558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Theoretical Background</a:t>
            </a:r>
          </a:p>
          <a:p>
            <a:pPr marL="0" indent="0">
              <a:buNone/>
            </a:pPr>
            <a:r>
              <a:rPr lang="en-US" dirty="0"/>
              <a:t>2. System Architecture</a:t>
            </a:r>
          </a:p>
          <a:p>
            <a:pPr marL="0" indent="0">
              <a:buNone/>
            </a:pPr>
            <a:r>
              <a:rPr lang="en-US" dirty="0"/>
              <a:t>3. Evaluation</a:t>
            </a:r>
          </a:p>
          <a:p>
            <a:pPr marL="0" indent="0">
              <a:buNone/>
            </a:pPr>
            <a:r>
              <a:rPr lang="en-US" dirty="0"/>
              <a:t>4. 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EEAA8-2F76-E533-215B-2E328B6C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88D4D7-0AD9-AD52-A1B6-53198993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PE Format &amp; Disassembly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6C4AA2-E8D2-46DD-70EC-19C1F79C5A22}"/>
              </a:ext>
            </a:extLst>
          </p:cNvPr>
          <p:cNvSpPr/>
          <p:nvPr/>
        </p:nvSpPr>
        <p:spPr>
          <a:xfrm>
            <a:off x="1984166" y="1794747"/>
            <a:ext cx="2028825" cy="714376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DOS MZ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1174F1-A4D4-A965-51F3-E5DD75A61FDE}"/>
              </a:ext>
            </a:extLst>
          </p:cNvPr>
          <p:cNvSpPr/>
          <p:nvPr/>
        </p:nvSpPr>
        <p:spPr>
          <a:xfrm>
            <a:off x="1973728" y="2837407"/>
            <a:ext cx="2028825" cy="714376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 Signature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D549F-6A0B-4E66-57D0-91B47766BAD8}"/>
              </a:ext>
            </a:extLst>
          </p:cNvPr>
          <p:cNvSpPr/>
          <p:nvPr/>
        </p:nvSpPr>
        <p:spPr>
          <a:xfrm>
            <a:off x="1963282" y="3880067"/>
            <a:ext cx="2028825" cy="714376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COFF File Header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439E75-D948-34B4-471A-6A2E8C9FD930}"/>
              </a:ext>
            </a:extLst>
          </p:cNvPr>
          <p:cNvSpPr/>
          <p:nvPr/>
        </p:nvSpPr>
        <p:spPr>
          <a:xfrm>
            <a:off x="1949919" y="4922727"/>
            <a:ext cx="2028825" cy="714376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Optional Header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AB9C0F-2627-5F04-3ECC-DDE8B4C9828F}"/>
              </a:ext>
            </a:extLst>
          </p:cNvPr>
          <p:cNvCxnSpPr>
            <a:cxnSpLocks/>
          </p:cNvCxnSpPr>
          <p:nvPr/>
        </p:nvCxnSpPr>
        <p:spPr>
          <a:xfrm>
            <a:off x="2988133" y="4594443"/>
            <a:ext cx="10446" cy="3282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498AFC-2EAF-EA81-ACBB-603542E491DF}"/>
              </a:ext>
            </a:extLst>
          </p:cNvPr>
          <p:cNvSpPr txBox="1"/>
          <p:nvPr/>
        </p:nvSpPr>
        <p:spPr>
          <a:xfrm>
            <a:off x="4146362" y="1951880"/>
            <a:ext cx="6381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Responsible for backward compatibility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C59B99-506B-8F28-9E82-D34E3244C169}"/>
              </a:ext>
            </a:extLst>
          </p:cNvPr>
          <p:cNvSpPr txBox="1"/>
          <p:nvPr/>
        </p:nvSpPr>
        <p:spPr>
          <a:xfrm>
            <a:off x="4146362" y="2994540"/>
            <a:ext cx="6381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Indicates the beginning of NT file header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635D48-ACC0-755D-27E6-F47ACA2D8D6A}"/>
              </a:ext>
            </a:extLst>
          </p:cNvPr>
          <p:cNvSpPr txBox="1"/>
          <p:nvPr/>
        </p:nvSpPr>
        <p:spPr>
          <a:xfrm>
            <a:off x="4146361" y="4037200"/>
            <a:ext cx="6381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Specify machine types and number of sections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CCE440-C92E-A6F9-D5F9-B4E34FC61AFC}"/>
              </a:ext>
            </a:extLst>
          </p:cNvPr>
          <p:cNvSpPr txBox="1"/>
          <p:nvPr/>
        </p:nvSpPr>
        <p:spPr>
          <a:xfrm>
            <a:off x="4134457" y="5079860"/>
            <a:ext cx="7677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Contains entry point virtual address, image base, and directories </a:t>
            </a:r>
            <a:endParaRPr lang="en-US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FF906E-FA77-D61A-467C-B5F770BAAC9F}"/>
              </a:ext>
            </a:extLst>
          </p:cNvPr>
          <p:cNvCxnSpPr>
            <a:cxnSpLocks/>
          </p:cNvCxnSpPr>
          <p:nvPr/>
        </p:nvCxnSpPr>
        <p:spPr>
          <a:xfrm>
            <a:off x="2953884" y="3551783"/>
            <a:ext cx="10446" cy="3282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AA6EC9-F61C-26F4-ACF9-8246DB9CB829}"/>
              </a:ext>
            </a:extLst>
          </p:cNvPr>
          <p:cNvCxnSpPr>
            <a:cxnSpLocks/>
          </p:cNvCxnSpPr>
          <p:nvPr/>
        </p:nvCxnSpPr>
        <p:spPr>
          <a:xfrm>
            <a:off x="2967248" y="2502828"/>
            <a:ext cx="10446" cy="3282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72FAF70-BB1D-98A3-562A-09FBFDE76935}"/>
              </a:ext>
            </a:extLst>
          </p:cNvPr>
          <p:cNvSpPr txBox="1"/>
          <p:nvPr/>
        </p:nvSpPr>
        <p:spPr>
          <a:xfrm>
            <a:off x="338736" y="948004"/>
            <a:ext cx="6381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Headers:</a:t>
            </a:r>
          </a:p>
        </p:txBody>
      </p:sp>
    </p:spTree>
    <p:extLst>
      <p:ext uri="{BB962C8B-B14F-4D97-AF65-F5344CB8AC3E}">
        <p14:creationId xmlns:p14="http://schemas.microsoft.com/office/powerpoint/2010/main" val="48410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PE Format &amp; Disassembly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Sections: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.text or .code: Contains executable machine instructions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.data: Holds initialized global variables.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.</a:t>
            </a:r>
            <a:r>
              <a:rPr lang="en-US" dirty="0" err="1"/>
              <a:t>rdata</a:t>
            </a:r>
            <a:r>
              <a:rPr lang="en-US" dirty="0"/>
              <a:t>: Contains read-only variables, debug directories, and the Import Address Table (IAT).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.</a:t>
            </a:r>
            <a:r>
              <a:rPr lang="en-US" dirty="0" err="1"/>
              <a:t>rsrc</a:t>
            </a:r>
            <a:r>
              <a:rPr lang="en-US" dirty="0"/>
              <a:t>: Contains application resources (icons, menus, versions). 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729C-9A96-6B44-95F4-D74B5957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PE Format &amp; </a:t>
            </a:r>
            <a:r>
              <a:rPr lang="en-US" dirty="0" err="1"/>
              <a:t>Diassembly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FE022-261A-C3AA-547C-36B2B88580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Import Address Table (IAT): </a:t>
            </a:r>
            <a:r>
              <a:rPr lang="en-US" dirty="0"/>
              <a:t>Records the dynamic link libraries (DLLs) and functions imported from the system API (</a:t>
            </a:r>
            <a:r>
              <a:rPr lang="en-US" b="1" i="1" dirty="0" err="1"/>
              <a:t>LoadLibrary</a:t>
            </a:r>
            <a:r>
              <a:rPr lang="en-US" b="1" i="1" dirty="0"/>
              <a:t>, </a:t>
            </a:r>
            <a:r>
              <a:rPr lang="en-US" b="1" i="1" dirty="0" err="1"/>
              <a:t>GetProcAddress</a:t>
            </a:r>
            <a:r>
              <a:rPr lang="en-US" b="1" i="1" dirty="0"/>
              <a:t>, …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b="1" dirty="0"/>
              <a:t>Disassembly: </a:t>
            </a:r>
            <a:r>
              <a:rPr lang="en-US" dirty="0"/>
              <a:t>Reversing raw binary bytes in </a:t>
            </a:r>
            <a:r>
              <a:rPr lang="en-US" b="1" i="1" dirty="0"/>
              <a:t>.text </a:t>
            </a:r>
            <a:r>
              <a:rPr lang="en-US" dirty="0"/>
              <a:t>into x86 assembly mnemonics (</a:t>
            </a:r>
            <a:r>
              <a:rPr lang="en-US" b="1" i="1" dirty="0"/>
              <a:t>mov, </a:t>
            </a:r>
            <a:r>
              <a:rPr lang="en-US" b="1" i="1" dirty="0" err="1"/>
              <a:t>xor</a:t>
            </a:r>
            <a:r>
              <a:rPr lang="en-US" b="1" i="1" dirty="0"/>
              <a:t>, </a:t>
            </a:r>
            <a:r>
              <a:rPr lang="en-US" b="1" i="1" dirty="0" err="1"/>
              <a:t>cmp</a:t>
            </a:r>
            <a:r>
              <a:rPr lang="en-US" b="1" i="1" dirty="0"/>
              <a:t>, etc</a:t>
            </a:r>
            <a:r>
              <a:rPr lang="en-US" i="1" dirty="0"/>
              <a:t>.</a:t>
            </a:r>
            <a:r>
              <a:rPr lang="en-US" dirty="0"/>
              <a:t>) for opcode analysis.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516D1-15BB-7903-B9BD-786D3817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3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F5DA-5E37-6F6A-9DDD-8E33F1A9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Shannon Entropy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9DFD68-31C2-1CCA-F346-0B50B0946F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1800" dirty="0"/>
                  <a:t>For a discrete random variable </a:t>
                </a:r>
                <a:r>
                  <a:rPr lang="en-US" sz="1800" i="1" dirty="0"/>
                  <a:t>X </a:t>
                </a:r>
                <a:r>
                  <a:rPr lang="en-US" sz="1800" dirty="0"/>
                  <a:t>representing byte values (from 0x00 to 0xFF) in a binary file or section, the Shannon entropy </a:t>
                </a:r>
                <a:r>
                  <a:rPr lang="en-US" sz="1800" i="1" dirty="0"/>
                  <a:t>H</a:t>
                </a:r>
                <a:r>
                  <a:rPr lang="en-US" sz="1800" dirty="0"/>
                  <a:t>(</a:t>
                </a:r>
                <a:r>
                  <a:rPr lang="en-US" sz="1800" i="1" dirty="0"/>
                  <a:t>X</a:t>
                </a:r>
                <a:r>
                  <a:rPr lang="en-US" sz="1800" dirty="0"/>
                  <a:t>) is computed as: </a:t>
                </a:r>
                <a:br>
                  <a:rPr lang="en-US" sz="1800" dirty="0"/>
                </a:b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𝑙𝑜𝑔𝑃</m:t>
                          </m:r>
                        </m:e>
                      </m:nary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While n = 256 possible bytes values,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is the empirical probability of occurrence of byte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inside an analyzed block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r>
                  <a:rPr lang="en-US" sz="1800" b="1" dirty="0"/>
                  <a:t>Low entropy (0.0 – 5.0): </a:t>
                </a:r>
                <a:r>
                  <a:rPr lang="en-US" sz="1800" dirty="0"/>
                  <a:t>Highly structured, predictable data</a:t>
                </a:r>
              </a:p>
              <a:p>
                <a:r>
                  <a:rPr lang="en-US" sz="1800" b="1" dirty="0"/>
                  <a:t>Medium entropy (5.0 – 6.8): </a:t>
                </a:r>
                <a:r>
                  <a:rPr lang="en-US" sz="1800" dirty="0"/>
                  <a:t>Normal executable code or compiler output.</a:t>
                </a:r>
              </a:p>
              <a:p>
                <a:r>
                  <a:rPr lang="en-US" sz="1800" b="1" dirty="0"/>
                  <a:t>High entropy (7.0 – 8.0): </a:t>
                </a:r>
                <a:r>
                  <a:rPr lang="en-US" sz="1800" dirty="0"/>
                  <a:t>Indicates high randomness, approaching uniform distribution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This is typical of encrypted data, compressed buﬀers, or packing payloads, since cryptography and compression algorithms aim to eliminate statistical patterns.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9DFD68-31C2-1CCA-F346-0B50B0946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424" t="-1110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872C0-2431-2E3D-2408-4C9D20E4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9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D012-8495-546B-560E-88C44BC4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Packing &amp; Obfuscation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E76CA-2ACE-5C6F-0B0C-25D419247E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/>
              <a:t>W^X Permission Violation: </a:t>
            </a:r>
            <a:r>
              <a:rPr lang="en-US" sz="2000" dirty="0"/>
              <a:t>Sections that are simultaneously Writable and Executable. Standard compilers separate these, but packers break this rule to decrypt code directly into memory.</a:t>
            </a:r>
          </a:p>
          <a:p>
            <a:endParaRPr lang="en-US" sz="2000" dirty="0"/>
          </a:p>
          <a:p>
            <a:r>
              <a:rPr lang="en-US" sz="2000" b="1" dirty="0"/>
              <a:t>Virtual vs. Raw Size Mismatch: </a:t>
            </a:r>
            <a:r>
              <a:rPr lang="en-US" sz="2000" dirty="0"/>
              <a:t>When the virtual size of a section in memory is significantly larger than its size on disk. This points to an expansion container for an unpacked payload.</a:t>
            </a:r>
          </a:p>
          <a:p>
            <a:endParaRPr lang="en-US" sz="2000" dirty="0"/>
          </a:p>
          <a:p>
            <a:r>
              <a:rPr lang="en-US" sz="2000" b="1" dirty="0"/>
              <a:t>Low/Zero Import Counts: </a:t>
            </a:r>
            <a:r>
              <a:rPr lang="en-US" sz="2000" dirty="0"/>
              <a:t>Packed files often hide their IAT, importing only baseline functions like </a:t>
            </a:r>
            <a:r>
              <a:rPr lang="en-US" sz="2000" b="1" i="1" dirty="0" err="1"/>
              <a:t>LoadLibraryA</a:t>
            </a:r>
            <a:r>
              <a:rPr lang="en-US" sz="2000" dirty="0"/>
              <a:t> and </a:t>
            </a:r>
            <a:r>
              <a:rPr lang="en-US" sz="2000" b="1" i="1" dirty="0" err="1"/>
              <a:t>GetProcAddress</a:t>
            </a:r>
            <a:r>
              <a:rPr lang="en-US" sz="2000" b="1" i="1" dirty="0"/>
              <a:t> </a:t>
            </a:r>
            <a:r>
              <a:rPr lang="en-US" sz="2000" dirty="0"/>
              <a:t>to dynamically load APIs at runtime.</a:t>
            </a:r>
          </a:p>
          <a:p>
            <a:endParaRPr lang="en-US" sz="2000" dirty="0"/>
          </a:p>
          <a:p>
            <a:r>
              <a:rPr lang="en-US" sz="2000" b="1" dirty="0"/>
              <a:t>Suspicious Section Names: </a:t>
            </a:r>
            <a:r>
              <a:rPr lang="en-US" sz="2000" dirty="0"/>
              <a:t>Section headers named </a:t>
            </a:r>
            <a:r>
              <a:rPr lang="en-US" sz="2000" b="1" i="1" dirty="0"/>
              <a:t>.upx0, .</a:t>
            </a:r>
            <a:r>
              <a:rPr lang="en-US" sz="2000" b="1" i="1" dirty="0" err="1"/>
              <a:t>aspack</a:t>
            </a:r>
            <a:r>
              <a:rPr lang="en-US" sz="2000" b="1" i="1" dirty="0"/>
              <a:t>, </a:t>
            </a:r>
            <a:r>
              <a:rPr lang="en-US" sz="2000" dirty="0"/>
              <a:t>or containing unexpected characters like </a:t>
            </a:r>
            <a:r>
              <a:rPr lang="en-US" sz="2000" b="1" dirty="0"/>
              <a:t>/.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2AB39-8698-8803-5FD3-E54F02B8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4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62DE-6D79-1BFB-9039-653D0AC8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Behavioral FSM: API Chain Tracking</a:t>
            </a:r>
            <a:br>
              <a:rPr lang="en-US" b="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6D120-CA2D-2C46-CF16-097151C1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22096-B178-83B2-1018-71D348C72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43" y="937738"/>
            <a:ext cx="5665657" cy="5166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2DA0CC-24ED-DBEE-674A-2FC07C03BE42}"/>
              </a:ext>
            </a:extLst>
          </p:cNvPr>
          <p:cNvSpPr txBox="1"/>
          <p:nvPr/>
        </p:nvSpPr>
        <p:spPr>
          <a:xfrm>
            <a:off x="6512767" y="937738"/>
            <a:ext cx="3946849" cy="3686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Score Impact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CLEAN / EVASIVE: +0 pts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SURVEY: +5 pts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INJECTING: +15 pts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MALICIOUS: +35 pts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8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04E6-0029-5EC1-0A1C-0417D97E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</a:t>
            </a:r>
            <a:r>
              <a:rPr lang="en-US" b="0" dirty="0"/>
              <a:t> </a:t>
            </a:r>
            <a:r>
              <a:rPr lang="en-US" dirty="0"/>
              <a:t>Decryption Loop FSM</a:t>
            </a:r>
            <a:br>
              <a:rPr lang="en-US" b="0" dirty="0"/>
            </a:br>
            <a:br>
              <a:rPr lang="en-US" b="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5964F-A421-5290-A43F-7936AEF344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b="1" dirty="0"/>
              <a:t>State 1: START</a:t>
            </a:r>
            <a:r>
              <a:rPr lang="en-US" sz="2400" dirty="0"/>
              <a:t> → Scans disassembled assembly opcodes. If a decryption operation </a:t>
            </a:r>
            <a:r>
              <a:rPr lang="en-US" sz="2400" i="1" dirty="0"/>
              <a:t>(</a:t>
            </a:r>
            <a:r>
              <a:rPr lang="en-US" sz="2400" i="1" dirty="0" err="1"/>
              <a:t>xor</a:t>
            </a:r>
            <a:r>
              <a:rPr lang="en-US" sz="2400" i="1" dirty="0"/>
              <a:t>, </a:t>
            </a:r>
            <a:r>
              <a:rPr lang="en-US" sz="2400" i="1" dirty="0" err="1"/>
              <a:t>rol</a:t>
            </a:r>
            <a:r>
              <a:rPr lang="en-US" sz="2400" i="1" dirty="0"/>
              <a:t>, </a:t>
            </a:r>
            <a:r>
              <a:rPr lang="en-US" sz="2400" i="1" dirty="0" err="1"/>
              <a:t>ror</a:t>
            </a:r>
            <a:r>
              <a:rPr lang="en-US" sz="2400" i="1" dirty="0"/>
              <a:t>) </a:t>
            </a:r>
            <a:r>
              <a:rPr lang="en-US" sz="2400" dirty="0"/>
              <a:t>is detected, transition to </a:t>
            </a:r>
            <a:r>
              <a:rPr lang="en-US" sz="2400" b="1" dirty="0"/>
              <a:t>XOR_FOUND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State 2: XOR_FOUND</a:t>
            </a:r>
            <a:r>
              <a:rPr lang="en-US" sz="2400" dirty="0"/>
              <a:t> → If the subsequent instruction updates loop pointers </a:t>
            </a:r>
            <a:r>
              <a:rPr lang="en-US" sz="2400" i="1" dirty="0"/>
              <a:t>(</a:t>
            </a:r>
            <a:r>
              <a:rPr lang="en-US" sz="2400" i="1" dirty="0" err="1"/>
              <a:t>cmp</a:t>
            </a:r>
            <a:r>
              <a:rPr lang="en-US" sz="2400" i="1" dirty="0"/>
              <a:t>, test, dec, </a:t>
            </a:r>
            <a:r>
              <a:rPr lang="en-US" sz="2400" i="1" dirty="0" err="1"/>
              <a:t>inc</a:t>
            </a:r>
            <a:r>
              <a:rPr lang="en-US" sz="2400" i="1" dirty="0"/>
              <a:t>, add, sub), </a:t>
            </a:r>
            <a:r>
              <a:rPr lang="en-US" sz="2400" dirty="0"/>
              <a:t>transition to </a:t>
            </a:r>
            <a:r>
              <a:rPr lang="en-US" sz="2400" b="1" dirty="0"/>
              <a:t>LOOP_FOUND</a:t>
            </a:r>
            <a:r>
              <a:rPr lang="en-US" sz="2400" dirty="0"/>
              <a:t>. Otherwise, reset.</a:t>
            </a:r>
          </a:p>
          <a:p>
            <a:endParaRPr lang="en-US" sz="2400" dirty="0"/>
          </a:p>
          <a:p>
            <a:r>
              <a:rPr lang="en-US" sz="2400" b="1" dirty="0"/>
              <a:t>State 3: LOOP_FOUND</a:t>
            </a:r>
            <a:r>
              <a:rPr lang="en-US" sz="2400" dirty="0"/>
              <a:t> → If the next instruction is a conditional jump or loop back </a:t>
            </a:r>
            <a:r>
              <a:rPr lang="en-US" sz="2400" i="1" dirty="0"/>
              <a:t>(</a:t>
            </a:r>
            <a:r>
              <a:rPr lang="en-US" sz="2400" i="1" dirty="0" err="1"/>
              <a:t>jnz</a:t>
            </a:r>
            <a:r>
              <a:rPr lang="en-US" sz="2400" i="1" dirty="0"/>
              <a:t>, </a:t>
            </a:r>
            <a:r>
              <a:rPr lang="en-US" sz="2400" i="1" dirty="0" err="1"/>
              <a:t>jne</a:t>
            </a:r>
            <a:r>
              <a:rPr lang="en-US" sz="2400" i="1" dirty="0"/>
              <a:t>, loop, </a:t>
            </a:r>
            <a:r>
              <a:rPr lang="en-US" sz="2400" i="1" dirty="0" err="1"/>
              <a:t>jmp</a:t>
            </a:r>
            <a:r>
              <a:rPr lang="en-US" sz="2400" i="1" dirty="0"/>
              <a:t>), </a:t>
            </a:r>
            <a:r>
              <a:rPr lang="en-US" sz="2400" dirty="0"/>
              <a:t>transition to </a:t>
            </a:r>
            <a:r>
              <a:rPr lang="en-US" sz="2400" b="1" dirty="0"/>
              <a:t>DECRYPTOR</a:t>
            </a:r>
            <a:r>
              <a:rPr lang="en-US" sz="2400" dirty="0"/>
              <a:t>. Otherwise, reset.</a:t>
            </a:r>
          </a:p>
          <a:p>
            <a:endParaRPr lang="en-US" sz="2400" dirty="0"/>
          </a:p>
          <a:p>
            <a:r>
              <a:rPr lang="en-US" sz="2400" b="1" dirty="0"/>
              <a:t>Result: </a:t>
            </a:r>
            <a:r>
              <a:rPr lang="en-US" sz="2400" dirty="0"/>
              <a:t>Reaching the </a:t>
            </a:r>
            <a:r>
              <a:rPr lang="en-US" sz="2400" b="1" dirty="0"/>
              <a:t>DECRYPTOR</a:t>
            </a:r>
            <a:r>
              <a:rPr lang="en-US" sz="2400" dirty="0"/>
              <a:t> state signals a decryption stub, adding </a:t>
            </a:r>
            <a:r>
              <a:rPr lang="en-US" sz="2400" b="1" dirty="0"/>
              <a:t>+25 </a:t>
            </a:r>
            <a:r>
              <a:rPr lang="en-US" sz="2400" dirty="0"/>
              <a:t>points to the heuristic score.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C99A9-6E81-A3FC-81FA-09997E78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6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6699-4573-3239-A1C7-16B50E297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 Weighted Heuristic Scoring Model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51DD3-568B-962B-412E-6C8120A7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FAAB5-29C8-5331-DDBF-22F16E894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83" y="834538"/>
            <a:ext cx="6779166" cy="551960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C83D800-4A4E-405A-8AC0-38B9A424E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983518"/>
              </p:ext>
            </p:extLst>
          </p:nvPr>
        </p:nvGraphicFramePr>
        <p:xfrm>
          <a:off x="7712287" y="1044061"/>
          <a:ext cx="4064000" cy="2143760"/>
        </p:xfrm>
        <a:graphic>
          <a:graphicData uri="http://schemas.openxmlformats.org/drawingml/2006/table">
            <a:tbl>
              <a:tblPr firstRow="1" bandRow="1"/>
              <a:tblGrid>
                <a:gridCol w="2032000">
                  <a:extLst>
                    <a:ext uri="{9D8B030D-6E8A-4147-A177-3AD203B41FA5}">
                      <a16:colId xmlns:a16="http://schemas.microsoft.com/office/drawing/2014/main" val="23520493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7986088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Dynamic Discounts (FP Mitigation):</a:t>
                      </a:r>
                      <a:endParaRPr lang="en-US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78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Export count &gt; 50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-35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99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High DLL import count (&gt;12)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-20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85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Windows API-Set DLL imports (&gt; 4 </a:t>
                      </a:r>
                      <a:r>
                        <a:rPr lang="en-US" sz="1600" b="1" i="1" kern="1200" dirty="0" err="1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api</a:t>
                      </a:r>
                      <a:r>
                        <a:rPr lang="en-US" sz="1600" b="1" i="1" kern="1200" dirty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-</a:t>
                      </a:r>
                      <a:r>
                        <a:rPr lang="en-US" sz="1600" b="1" i="1" kern="1200" dirty="0" err="1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ms</a:t>
                      </a:r>
                      <a:r>
                        <a:rPr lang="en-US" sz="1600" b="1" i="1" kern="1200" dirty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-win* 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libraries)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-20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27672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008D34-33D2-CDBB-F1FF-2990E0B00581}"/>
                  </a:ext>
                </a:extLst>
              </p:cNvPr>
              <p:cNvSpPr txBox="1"/>
              <p:nvPr/>
            </p:nvSpPr>
            <p:spPr>
              <a:xfrm>
                <a:off x="7965161" y="3670180"/>
                <a:ext cx="388535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2000" b="1" i="0" dirty="0">
                    <a:solidFill>
                      <a:srgbClr val="3B3B3B"/>
                    </a:solidFill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Classification Threshold</a:t>
                </a:r>
                <a:r>
                  <a:rPr lang="en-US" sz="2000" b="0" i="0" dirty="0">
                    <a:solidFill>
                      <a:srgbClr val="3B3B3B"/>
                    </a:solidFill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 Files with a score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≥50</m:t>
                    </m:r>
                  </m:oMath>
                </a14:m>
                <a:r>
                  <a:rPr lang="en-US" sz="2000" b="0" i="0" dirty="0">
                    <a:solidFill>
                      <a:srgbClr val="3B3B3B"/>
                    </a:solidFill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are classified as </a:t>
                </a:r>
                <a:r>
                  <a:rPr lang="en-US" sz="2000" b="1" i="0" dirty="0">
                    <a:solidFill>
                      <a:srgbClr val="3B3B3B"/>
                    </a:solidFill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MALWARE</a:t>
                </a:r>
                <a:r>
                  <a:rPr lang="en-US" sz="2000" b="0" i="0" dirty="0">
                    <a:solidFill>
                      <a:srgbClr val="3B3B3B"/>
                    </a:solidFill>
                    <a:effectLst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008D34-33D2-CDBB-F1FF-2990E0B00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161" y="3670180"/>
                <a:ext cx="3885352" cy="1015663"/>
              </a:xfrm>
              <a:prstGeom prst="rect">
                <a:avLst/>
              </a:prstGeom>
              <a:blipFill>
                <a:blip r:embed="rId3"/>
                <a:stretch>
                  <a:fillRect l="-1727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E0111A-A0D2-30C1-A5DD-49F3D654C37A}"/>
              </a:ext>
            </a:extLst>
          </p:cNvPr>
          <p:cNvCxnSpPr>
            <a:cxnSpLocks/>
          </p:cNvCxnSpPr>
          <p:nvPr/>
        </p:nvCxnSpPr>
        <p:spPr>
          <a:xfrm>
            <a:off x="7632441" y="3890865"/>
            <a:ext cx="3327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79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A282-49AE-CC1D-5476-1D47FCC0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Theoretical Background –  Heuristic Probability Curve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024C5-00C9-EFD8-6A47-DEAE1D7A3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To express threat likelihood as a percentage rather than a raw score, the engine computes a Malware Probability</a:t>
            </a:r>
            <a:r>
              <a:rPr lang="en-US" sz="2000" b="1" dirty="0"/>
              <a:t> </a:t>
            </a:r>
            <a:r>
              <a:rPr lang="en-US" sz="2000" i="1" dirty="0"/>
              <a:t>P </a:t>
            </a:r>
            <a:r>
              <a:rPr lang="en-US" sz="2000" dirty="0"/>
              <a:t>using an exponential curve: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D3136-FAE4-782F-DD2E-E273E904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E3AE1-5D1B-733C-35BA-2DFF46A2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21" y="1852867"/>
            <a:ext cx="9327559" cy="1188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6869AE-4ADF-2A1F-7E9C-4A6EE4DD662D}"/>
              </a:ext>
            </a:extLst>
          </p:cNvPr>
          <p:cNvSpPr txBox="1"/>
          <p:nvPr/>
        </p:nvSpPr>
        <p:spPr>
          <a:xfrm>
            <a:off x="337539" y="3429000"/>
            <a:ext cx="585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While S is the heuristic score, Threshold = 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A64F4-81B8-6B92-B642-6164BBE6D2F1}"/>
              </a:ext>
            </a:extLst>
          </p:cNvPr>
          <p:cNvSpPr txBox="1"/>
          <p:nvPr/>
        </p:nvSpPr>
        <p:spPr>
          <a:xfrm>
            <a:off x="830470" y="4183336"/>
            <a:ext cx="10217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Scores that are far above the threshold asymptotically approach 100% malware probability.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EB250F-7D5C-920E-10EA-6F0F04A857E3}"/>
              </a:ext>
            </a:extLst>
          </p:cNvPr>
          <p:cNvCxnSpPr>
            <a:cxnSpLocks/>
          </p:cNvCxnSpPr>
          <p:nvPr/>
        </p:nvCxnSpPr>
        <p:spPr>
          <a:xfrm>
            <a:off x="497750" y="4366727"/>
            <a:ext cx="3327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425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28ED-61A0-24C9-0B3C-AA3EB330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System 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4313E-31D7-F1C1-A5D3-A10CCE49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75A7AF-91F7-3CDC-810B-65CECFBBB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20" y="1255874"/>
            <a:ext cx="8648491" cy="434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5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06E0-EBF5-EC81-1029-FE9861CC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606DF-B5B3-7CCC-B5A2-E1B76DBF95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737" y="922019"/>
            <a:ext cx="11514527" cy="34842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The performance of the heuristic engine was validated against a large-scale static features database containing 1</a:t>
            </a:r>
            <a:r>
              <a:rPr lang="en-US" sz="1800" i="1" dirty="0"/>
              <a:t>,</a:t>
            </a:r>
            <a:r>
              <a:rPr lang="en-US" sz="1800" dirty="0"/>
              <a:t>797 samples: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Benign Samples</a:t>
            </a:r>
            <a:r>
              <a:rPr lang="en-US" sz="1800" dirty="0"/>
              <a:t>: 993 legitimate Windows executables, DLLs, and system drivers.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Malware Samples</a:t>
            </a:r>
            <a:r>
              <a:rPr lang="en-US" sz="1800" dirty="0"/>
              <a:t>: 804 wild malware binaries collected securely from </a:t>
            </a:r>
            <a:r>
              <a:rPr lang="en-US" sz="1800" dirty="0" err="1"/>
              <a:t>MalwareBazaar</a:t>
            </a:r>
            <a:r>
              <a:rPr lang="en-US" sz="1800" dirty="0"/>
              <a:t>. 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F84E6-E607-888E-71ED-17148809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2AB1A-F9F0-B78F-3A80-C6BA9F07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68" y="2750567"/>
            <a:ext cx="8088463" cy="336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5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ADC5-C790-610B-F68A-387174E6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701C6-22E4-BDC8-93C9-F4EB64560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959643"/>
            <a:ext cx="11515725" cy="4938713"/>
          </a:xfrm>
        </p:spPr>
        <p:txBody>
          <a:bodyPr/>
          <a:lstStyle/>
          <a:p>
            <a:pPr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Core strength</a:t>
            </a:r>
            <a:r>
              <a:rPr lang="en-US" dirty="0"/>
              <a:t>:</a:t>
            </a:r>
          </a:p>
          <a:p>
            <a:pPr lvl="1"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Safety &amp; Speed: </a:t>
            </a:r>
            <a:r>
              <a:rPr lang="en-US" dirty="0"/>
              <a:t>Evaluates files statically in milliseconds with zero threat execution risk.</a:t>
            </a:r>
          </a:p>
          <a:p>
            <a:pPr lvl="1"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Robust Obfuscation Heuristics: </a:t>
            </a:r>
            <a:r>
              <a:rPr lang="en-US" dirty="0"/>
              <a:t>Catches packer stubs using entropy triggers and a custom 3-gram assembly FSM.</a:t>
            </a:r>
          </a:p>
          <a:p>
            <a:pPr lvl="1">
              <a:spcBef>
                <a:spcPts val="125"/>
              </a:spcBef>
              <a:spcAft>
                <a:spcPts val="500"/>
              </a:spcAft>
            </a:pPr>
            <a:endParaRPr lang="en-US" dirty="0"/>
          </a:p>
          <a:p>
            <a:pPr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Drawbacks:</a:t>
            </a:r>
          </a:p>
          <a:p>
            <a:pPr lvl="1"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API Obfuscation Blindspot: </a:t>
            </a:r>
            <a:r>
              <a:rPr lang="en-US" dirty="0"/>
              <a:t>Unable to map API calls if resolved dynamically using custom hashes.</a:t>
            </a:r>
          </a:p>
          <a:p>
            <a:pPr lvl="1"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Payload Encryption Limits: </a:t>
            </a:r>
            <a:r>
              <a:rPr lang="en-US" dirty="0"/>
              <a:t>Static analysis cannot parse hidden instructions before they are loaded into RAM.</a:t>
            </a:r>
          </a:p>
          <a:p>
            <a:pPr lvl="1">
              <a:spcBef>
                <a:spcPts val="125"/>
              </a:spcBef>
              <a:spcAft>
                <a:spcPts val="500"/>
              </a:spcAft>
            </a:pPr>
            <a:r>
              <a:rPr lang="en-US" b="1" dirty="0"/>
              <a:t>Dual-Use Tool Overlaps: </a:t>
            </a:r>
            <a:r>
              <a:rPr lang="en-US" dirty="0"/>
              <a:t>Legitimate debuggers and command engines naturally trigger injection rule</a:t>
            </a:r>
          </a:p>
          <a:p>
            <a:pPr marL="0" indent="0">
              <a:spcBef>
                <a:spcPts val="125"/>
              </a:spcBef>
              <a:spcAft>
                <a:spcPts val="500"/>
              </a:spcAft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62AD0-B8E2-E365-74C5-82F10964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6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917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Members</vt:lpstr>
      <vt:lpstr>Table of Contents </vt:lpstr>
      <vt:lpstr>1. Theoretical Background – PE Format &amp; Disassembly</vt:lpstr>
      <vt:lpstr>1. Theoretical Background – PE Format &amp; Disassembly</vt:lpstr>
      <vt:lpstr>1. Theoretical Background – PE Format &amp; Diassembly</vt:lpstr>
      <vt:lpstr>1. Theoretical Background – Shannon Entropy</vt:lpstr>
      <vt:lpstr>1. Theoretical Background – Packing &amp; Obfuscation</vt:lpstr>
      <vt:lpstr>1. Theoretical Background – Behavioral FSM: API Chain Tracking </vt:lpstr>
      <vt:lpstr>1. Theoretical Background –  Decryption Loop FSM  </vt:lpstr>
      <vt:lpstr>1. Theoretical Background –  Weighted Heuristic Scoring Model </vt:lpstr>
      <vt:lpstr>1. Theoretical Background –  Heuristic Probability Curve </vt:lpstr>
      <vt:lpstr>2. System Architecture </vt:lpstr>
      <vt:lpstr>3. Evaluation</vt:lpstr>
      <vt:lpstr>4.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M41 P</cp:lastModifiedBy>
  <cp:revision>16</cp:revision>
  <dcterms:created xsi:type="dcterms:W3CDTF">2021-05-28T04:32:29Z</dcterms:created>
  <dcterms:modified xsi:type="dcterms:W3CDTF">2026-06-25T15:30:43Z</dcterms:modified>
</cp:coreProperties>
</file>